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5" r:id="rId1"/>
  </p:sldMasterIdLst>
  <p:sldIdLst>
    <p:sldId id="256" r:id="rId2"/>
    <p:sldId id="257" r:id="rId3"/>
    <p:sldId id="274" r:id="rId4"/>
    <p:sldId id="258" r:id="rId5"/>
    <p:sldId id="267" r:id="rId6"/>
    <p:sldId id="259" r:id="rId7"/>
    <p:sldId id="269" r:id="rId8"/>
    <p:sldId id="270" r:id="rId9"/>
    <p:sldId id="260" r:id="rId10"/>
    <p:sldId id="271" r:id="rId11"/>
    <p:sldId id="261" r:id="rId12"/>
    <p:sldId id="272" r:id="rId13"/>
    <p:sldId id="262" r:id="rId14"/>
    <p:sldId id="273" r:id="rId15"/>
    <p:sldId id="263" r:id="rId16"/>
    <p:sldId id="264" r:id="rId17"/>
    <p:sldId id="265" r:id="rId18"/>
    <p:sldId id="275" r:id="rId19"/>
    <p:sldId id="27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napToGrid="0">
      <p:cViewPr varScale="1">
        <p:scale>
          <a:sx n="81" d="100"/>
          <a:sy n="81" d="100"/>
        </p:scale>
        <p:origin x="90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Internshala\Course%204%20SQL\project\Result%20sheet%20in%20Excel%20of%20sql%20projec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Internshala\Course%204%20SQL\project\Result%20sheet%20in%20Excel%20of%20sql%20projec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E:\Internshala\Course%204%20SQL\project\Result%20sheet%20in%20Excel%20of%20sql%20projec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E:\Internshala\Course%204%20SQL\project\Result%20sheet%20in%20Excel%20of%20sql%20projec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E:\Internshala\Course%204%20SQL\project\Result%20sheet%20in%20Excel%20of%20sql%20projec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E:\Internshala\Course%204%20SQL\project\Result%20sheet%20in%20Excel%20of%20sql%20projec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E:\Internshala\Course%204%20SQL\project\Result%20sheet%20in%20Excel%20of%20sql%20project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E:\Internshala\Course%204%20SQL\project\Result%20sheet%20in%20Excel%20of%20sql%20project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E:\Internshala\Course%204%20SQL\project\Result%20sheet%20in%20Excel%20of%20sql%20project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E:\Internshala\Course%204%20SQL\project\Result%20sheet%20in%20Excel%20of%20sql%20project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Internshala\Course%204%20SQL\project\Result%20sheet%20in%20Excel%20of%20sql%20project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TOP 10 ROUTES BY AVG_DELAY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'Task 2.2'!$B$1</c:f>
              <c:strCache>
                <c:ptCount val="1"/>
                <c:pt idx="0">
                  <c:v>Avg_Delay_Hours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'Task 2.2'!$A$2:$A$11</c:f>
              <c:strCache>
                <c:ptCount val="10"/>
                <c:pt idx="0">
                  <c:v>R013</c:v>
                </c:pt>
                <c:pt idx="1">
                  <c:v>R012</c:v>
                </c:pt>
                <c:pt idx="2">
                  <c:v>R019</c:v>
                </c:pt>
                <c:pt idx="3">
                  <c:v>R016</c:v>
                </c:pt>
                <c:pt idx="4">
                  <c:v>R015</c:v>
                </c:pt>
                <c:pt idx="5">
                  <c:v>R017</c:v>
                </c:pt>
                <c:pt idx="6">
                  <c:v>R014</c:v>
                </c:pt>
                <c:pt idx="7">
                  <c:v>R011</c:v>
                </c:pt>
                <c:pt idx="8">
                  <c:v>R018</c:v>
                </c:pt>
                <c:pt idx="9">
                  <c:v>R020</c:v>
                </c:pt>
              </c:strCache>
            </c:strRef>
          </c:cat>
          <c:val>
            <c:numRef>
              <c:f>'Task 2.2'!$B$2:$B$11</c:f>
              <c:numCache>
                <c:formatCode>General</c:formatCode>
                <c:ptCount val="10"/>
                <c:pt idx="0">
                  <c:v>11.95</c:v>
                </c:pt>
                <c:pt idx="1">
                  <c:v>13.89</c:v>
                </c:pt>
                <c:pt idx="2">
                  <c:v>13.91</c:v>
                </c:pt>
                <c:pt idx="3">
                  <c:v>14.89</c:v>
                </c:pt>
                <c:pt idx="4">
                  <c:v>15.19</c:v>
                </c:pt>
                <c:pt idx="5">
                  <c:v>19.27</c:v>
                </c:pt>
                <c:pt idx="6">
                  <c:v>20.97</c:v>
                </c:pt>
                <c:pt idx="7">
                  <c:v>22.64</c:v>
                </c:pt>
                <c:pt idx="8">
                  <c:v>25.83</c:v>
                </c:pt>
                <c:pt idx="9">
                  <c:v>32.799999999999997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23-41C3-A575-B4FF83CA2E0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582488575"/>
        <c:axId val="582487615"/>
      </c:barChart>
      <c:catAx>
        <c:axId val="58248857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/>
                  <a:t>Delayed_Routes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2487615"/>
        <c:crosses val="autoZero"/>
        <c:auto val="1"/>
        <c:lblAlgn val="ctr"/>
        <c:lblOffset val="100"/>
        <c:noMultiLvlLbl val="0"/>
      </c:catAx>
      <c:valAx>
        <c:axId val="5824876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/>
                  <a:t>Avg_delay_Hours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24885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Shipment</a:t>
            </a:r>
            <a:r>
              <a:rPr lang="en-IN" baseline="0"/>
              <a:t> Rank with delay hours by each warehouse_ID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'Task 2.3'!$C$1</c:f>
              <c:strCache>
                <c:ptCount val="1"/>
                <c:pt idx="0">
                  <c:v>Delay_Hours</c:v>
                </c:pt>
              </c:strCache>
            </c:strRef>
          </c:tx>
          <c:spPr>
            <a:gradFill flip="none" rotWithShape="1">
              <a:gsLst>
                <a:gs pos="0">
                  <a:schemeClr val="accent1"/>
                </a:gs>
                <a:gs pos="75000">
                  <a:schemeClr val="accent1">
                    <a:lumMod val="60000"/>
                    <a:lumOff val="40000"/>
                  </a:schemeClr>
                </a:gs>
                <a:gs pos="51000">
                  <a:schemeClr val="accent1">
                    <a:alpha val="75000"/>
                  </a:schemeClr>
                </a:gs>
                <a:gs pos="100000">
                  <a:schemeClr val="accent1"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multiLvlStrRef>
              <c:f>'Task 2.3'!$A$2:$B$1001</c:f>
              <c:multiLvlStrCache>
                <c:ptCount val="11"/>
                <c:lvl>
                  <c:pt idx="0">
                    <c:v>S00648</c:v>
                  </c:pt>
                  <c:pt idx="1">
                    <c:v>S00321</c:v>
                  </c:pt>
                  <c:pt idx="2">
                    <c:v>S00924</c:v>
                  </c:pt>
                  <c:pt idx="3">
                    <c:v>S00548</c:v>
                  </c:pt>
                  <c:pt idx="4">
                    <c:v>S00490</c:v>
                  </c:pt>
                  <c:pt idx="5">
                    <c:v>S00096</c:v>
                  </c:pt>
                  <c:pt idx="6">
                    <c:v>S00760</c:v>
                  </c:pt>
                  <c:pt idx="7">
                    <c:v>S00761</c:v>
                  </c:pt>
                  <c:pt idx="8">
                    <c:v>S00015</c:v>
                  </c:pt>
                  <c:pt idx="9">
                    <c:v>S00157</c:v>
                  </c:pt>
                  <c:pt idx="10">
                    <c:v>S00174</c:v>
                  </c:pt>
                </c:lvl>
                <c:lvl>
                  <c:pt idx="0">
                    <c:v>W001</c:v>
                  </c:pt>
                  <c:pt idx="1">
                    <c:v>W002</c:v>
                  </c:pt>
                  <c:pt idx="2">
                    <c:v>W003</c:v>
                  </c:pt>
                  <c:pt idx="3">
                    <c:v>W004</c:v>
                  </c:pt>
                  <c:pt idx="4">
                    <c:v>W005</c:v>
                  </c:pt>
                  <c:pt idx="5">
                    <c:v>W006</c:v>
                  </c:pt>
                  <c:pt idx="6">
                    <c:v>W007</c:v>
                  </c:pt>
                  <c:pt idx="7">
                    <c:v>W008</c:v>
                  </c:pt>
                  <c:pt idx="8">
                    <c:v>W008</c:v>
                  </c:pt>
                  <c:pt idx="9">
                    <c:v>W009</c:v>
                  </c:pt>
                  <c:pt idx="10">
                    <c:v>W010</c:v>
                  </c:pt>
                </c:lvl>
              </c:multiLvlStrCache>
            </c:multiLvlStrRef>
          </c:cat>
          <c:val>
            <c:numRef>
              <c:f>'Task 2.3'!$C$2:$C$1001</c:f>
              <c:numCache>
                <c:formatCode>General</c:formatCode>
                <c:ptCount val="11"/>
                <c:pt idx="0">
                  <c:v>205.7</c:v>
                </c:pt>
                <c:pt idx="1">
                  <c:v>209.8</c:v>
                </c:pt>
                <c:pt idx="2">
                  <c:v>232.3</c:v>
                </c:pt>
                <c:pt idx="3">
                  <c:v>220.8</c:v>
                </c:pt>
                <c:pt idx="4">
                  <c:v>230.1</c:v>
                </c:pt>
                <c:pt idx="5">
                  <c:v>210.9</c:v>
                </c:pt>
                <c:pt idx="6">
                  <c:v>206.4</c:v>
                </c:pt>
                <c:pt idx="7">
                  <c:v>238.6</c:v>
                </c:pt>
                <c:pt idx="8">
                  <c:v>238.6</c:v>
                </c:pt>
                <c:pt idx="9">
                  <c:v>219.2</c:v>
                </c:pt>
                <c:pt idx="10">
                  <c:v>232.6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A7-4246-A995-A79FB435BE97}"/>
            </c:ext>
          </c:extLst>
        </c:ser>
        <c:ser>
          <c:idx val="1"/>
          <c:order val="1"/>
          <c:tx>
            <c:strRef>
              <c:f>'Task 2.3'!$D$1</c:f>
              <c:strCache>
                <c:ptCount val="1"/>
                <c:pt idx="0">
                  <c:v>Shipment_Rank</c:v>
                </c:pt>
              </c:strCache>
            </c:strRef>
          </c:tx>
          <c:spPr>
            <a:gradFill flip="none" rotWithShape="1">
              <a:gsLst>
                <a:gs pos="0">
                  <a:schemeClr val="accent2"/>
                </a:gs>
                <a:gs pos="75000">
                  <a:schemeClr val="accent2">
                    <a:lumMod val="60000"/>
                    <a:lumOff val="40000"/>
                  </a:schemeClr>
                </a:gs>
                <a:gs pos="51000">
                  <a:schemeClr val="accent2">
                    <a:alpha val="75000"/>
                  </a:schemeClr>
                </a:gs>
                <a:gs pos="100000">
                  <a:schemeClr val="accent2"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multiLvlStrRef>
              <c:f>'Task 2.3'!$A$2:$B$1001</c:f>
              <c:multiLvlStrCache>
                <c:ptCount val="11"/>
                <c:lvl>
                  <c:pt idx="0">
                    <c:v>S00648</c:v>
                  </c:pt>
                  <c:pt idx="1">
                    <c:v>S00321</c:v>
                  </c:pt>
                  <c:pt idx="2">
                    <c:v>S00924</c:v>
                  </c:pt>
                  <c:pt idx="3">
                    <c:v>S00548</c:v>
                  </c:pt>
                  <c:pt idx="4">
                    <c:v>S00490</c:v>
                  </c:pt>
                  <c:pt idx="5">
                    <c:v>S00096</c:v>
                  </c:pt>
                  <c:pt idx="6">
                    <c:v>S00760</c:v>
                  </c:pt>
                  <c:pt idx="7">
                    <c:v>S00761</c:v>
                  </c:pt>
                  <c:pt idx="8">
                    <c:v>S00015</c:v>
                  </c:pt>
                  <c:pt idx="9">
                    <c:v>S00157</c:v>
                  </c:pt>
                  <c:pt idx="10">
                    <c:v>S00174</c:v>
                  </c:pt>
                </c:lvl>
                <c:lvl>
                  <c:pt idx="0">
                    <c:v>W001</c:v>
                  </c:pt>
                  <c:pt idx="1">
                    <c:v>W002</c:v>
                  </c:pt>
                  <c:pt idx="2">
                    <c:v>W003</c:v>
                  </c:pt>
                  <c:pt idx="3">
                    <c:v>W004</c:v>
                  </c:pt>
                  <c:pt idx="4">
                    <c:v>W005</c:v>
                  </c:pt>
                  <c:pt idx="5">
                    <c:v>W006</c:v>
                  </c:pt>
                  <c:pt idx="6">
                    <c:v>W007</c:v>
                  </c:pt>
                  <c:pt idx="7">
                    <c:v>W008</c:v>
                  </c:pt>
                  <c:pt idx="8">
                    <c:v>W008</c:v>
                  </c:pt>
                  <c:pt idx="9">
                    <c:v>W009</c:v>
                  </c:pt>
                  <c:pt idx="10">
                    <c:v>W010</c:v>
                  </c:pt>
                </c:lvl>
              </c:multiLvlStrCache>
            </c:multiLvlStrRef>
          </c:cat>
          <c:val>
            <c:numRef>
              <c:f>'Task 2.3'!$D$2:$D$1001</c:f>
              <c:numCache>
                <c:formatCode>General</c:formatCode>
                <c:ptCount val="1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FA7-4246-A995-A79FB435BE9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55"/>
        <c:overlap val="-70"/>
        <c:axId val="1184342511"/>
        <c:axId val="1184359311"/>
      </c:barChart>
      <c:catAx>
        <c:axId val="1184342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4359311"/>
        <c:crosses val="autoZero"/>
        <c:auto val="1"/>
        <c:lblAlgn val="ctr"/>
        <c:lblOffset val="100"/>
        <c:noMultiLvlLbl val="0"/>
      </c:catAx>
      <c:valAx>
        <c:axId val="1184359311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tx1">
                      <a:lumMod val="5000"/>
                      <a:lumOff val="95000"/>
                    </a:schemeClr>
                  </a:gs>
                  <a:gs pos="0">
                    <a:schemeClr val="tx1">
                      <a:lumMod val="25000"/>
                      <a:lumOff val="7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4342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Average</a:t>
            </a:r>
            <a:r>
              <a:rPr lang="en-US" b="1" baseline="0"/>
              <a:t> Delay by Delivery Type</a:t>
            </a:r>
            <a:endParaRPr lang="en-US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'Task 2.4'!$B$1</c:f>
              <c:strCache>
                <c:ptCount val="1"/>
                <c:pt idx="0">
                  <c:v>Type_Avg_Delay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'Task 2.4'!$A$2:$A$3</c:f>
              <c:strCache>
                <c:ptCount val="2"/>
                <c:pt idx="0">
                  <c:v>Standard</c:v>
                </c:pt>
                <c:pt idx="1">
                  <c:v>Express</c:v>
                </c:pt>
              </c:strCache>
            </c:strRef>
          </c:cat>
          <c:val>
            <c:numRef>
              <c:f>'Task 2.4'!$B$2:$B$3</c:f>
              <c:numCache>
                <c:formatCode>General</c:formatCode>
                <c:ptCount val="2"/>
                <c:pt idx="0">
                  <c:v>20.85</c:v>
                </c:pt>
                <c:pt idx="1">
                  <c:v>22.5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E8-4147-9B63-78CA58B633D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96275167"/>
        <c:axId val="996271807"/>
      </c:barChart>
      <c:catAx>
        <c:axId val="99627516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/>
                  <a:t>Delivery</a:t>
                </a:r>
                <a:r>
                  <a:rPr lang="en-IN" b="1" baseline="0"/>
                  <a:t>  Type</a:t>
                </a:r>
                <a:endParaRPr lang="en-IN" b="1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6271807"/>
        <c:crosses val="autoZero"/>
        <c:auto val="1"/>
        <c:lblAlgn val="ctr"/>
        <c:lblOffset val="100"/>
        <c:noMultiLvlLbl val="0"/>
      </c:catAx>
      <c:valAx>
        <c:axId val="9962718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/>
                  <a:t>Average Delay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62751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3 ROUTES WITH THE WORST EFFICIENCY RATIO </a:t>
            </a:r>
          </a:p>
        </c:rich>
      </c:tx>
      <c:layout>
        <c:manualLayout>
          <c:xMode val="edge"/>
          <c:yMode val="edge"/>
          <c:x val="0.11770375293997341"/>
          <c:y val="2.9761904761904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'Task 3.4'!$B$1</c:f>
              <c:strCache>
                <c:ptCount val="1"/>
                <c:pt idx="0">
                  <c:v>Distance_Time_Efficiency_ratio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'Task 3.4'!$A$2:$A$4</c:f>
              <c:strCache>
                <c:ptCount val="3"/>
                <c:pt idx="0">
                  <c:v>R003</c:v>
                </c:pt>
                <c:pt idx="1">
                  <c:v>R015</c:v>
                </c:pt>
                <c:pt idx="2">
                  <c:v>R006</c:v>
                </c:pt>
              </c:strCache>
            </c:strRef>
          </c:cat>
          <c:val>
            <c:numRef>
              <c:f>'Task 3.4'!$B$2:$B$4</c:f>
              <c:numCache>
                <c:formatCode>General</c:formatCode>
                <c:ptCount val="3"/>
                <c:pt idx="0">
                  <c:v>37.659999999999997</c:v>
                </c:pt>
                <c:pt idx="1">
                  <c:v>52.7</c:v>
                </c:pt>
                <c:pt idx="2">
                  <c:v>101.46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90-402E-90BB-F763D2EAB7B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184346351"/>
        <c:axId val="1184366031"/>
      </c:barChart>
      <c:catAx>
        <c:axId val="118434635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Route_ID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4366031"/>
        <c:crosses val="autoZero"/>
        <c:auto val="1"/>
        <c:lblAlgn val="ctr"/>
        <c:lblOffset val="100"/>
        <c:noMultiLvlLbl val="0"/>
      </c:catAx>
      <c:valAx>
        <c:axId val="11843660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Distance_time_Efficiency_ratio</a:t>
                </a:r>
              </a:p>
            </c:rich>
          </c:tx>
          <c:layout>
            <c:manualLayout>
              <c:xMode val="edge"/>
              <c:yMode val="edge"/>
              <c:x val="2.2222222222222223E-2"/>
              <c:y val="0.1720293817439486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43463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Top 3 warehouses with highest_avg_delay in shipments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'Task 4.1'!$A$2</c:f>
              <c:strCache>
                <c:ptCount val="1"/>
                <c:pt idx="0">
                  <c:v>W004</c:v>
                </c:pt>
              </c:strCache>
            </c:strRef>
          </c:tx>
          <c:spPr>
            <a:gradFill flip="none" rotWithShape="1">
              <a:gsLst>
                <a:gs pos="0">
                  <a:schemeClr val="accent1"/>
                </a:gs>
                <a:gs pos="75000">
                  <a:schemeClr val="accent1">
                    <a:lumMod val="60000"/>
                    <a:lumOff val="40000"/>
                  </a:schemeClr>
                </a:gs>
                <a:gs pos="51000">
                  <a:schemeClr val="accent1">
                    <a:alpha val="75000"/>
                  </a:schemeClr>
                </a:gs>
                <a:gs pos="100000">
                  <a:schemeClr val="accent1"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'Task 4.1'!$B$1:$C$1</c:f>
              <c:strCache>
                <c:ptCount val="2"/>
                <c:pt idx="0">
                  <c:v>Total_Shipments</c:v>
                </c:pt>
                <c:pt idx="1">
                  <c:v>Highest_Avg_Delay</c:v>
                </c:pt>
              </c:strCache>
            </c:strRef>
          </c:cat>
          <c:val>
            <c:numRef>
              <c:f>'Task 4.1'!$B$2:$C$2</c:f>
              <c:numCache>
                <c:formatCode>General</c:formatCode>
                <c:ptCount val="2"/>
                <c:pt idx="0">
                  <c:v>90</c:v>
                </c:pt>
                <c:pt idx="1">
                  <c:v>25.88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DF-4C7E-AD2F-DDEFDFCC00D0}"/>
            </c:ext>
          </c:extLst>
        </c:ser>
        <c:ser>
          <c:idx val="1"/>
          <c:order val="1"/>
          <c:tx>
            <c:strRef>
              <c:f>'Task 4.1'!$A$3</c:f>
              <c:strCache>
                <c:ptCount val="1"/>
                <c:pt idx="0">
                  <c:v>W003</c:v>
                </c:pt>
              </c:strCache>
            </c:strRef>
          </c:tx>
          <c:spPr>
            <a:gradFill flip="none" rotWithShape="1">
              <a:gsLst>
                <a:gs pos="0">
                  <a:schemeClr val="accent2"/>
                </a:gs>
                <a:gs pos="75000">
                  <a:schemeClr val="accent2">
                    <a:lumMod val="60000"/>
                    <a:lumOff val="40000"/>
                  </a:schemeClr>
                </a:gs>
                <a:gs pos="51000">
                  <a:schemeClr val="accent2">
                    <a:alpha val="75000"/>
                  </a:schemeClr>
                </a:gs>
                <a:gs pos="100000">
                  <a:schemeClr val="accent2"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'Task 4.1'!$B$1:$C$1</c:f>
              <c:strCache>
                <c:ptCount val="2"/>
                <c:pt idx="0">
                  <c:v>Total_Shipments</c:v>
                </c:pt>
                <c:pt idx="1">
                  <c:v>Highest_Avg_Delay</c:v>
                </c:pt>
              </c:strCache>
            </c:strRef>
          </c:cat>
          <c:val>
            <c:numRef>
              <c:f>'Task 4.1'!$B$3:$C$3</c:f>
              <c:numCache>
                <c:formatCode>General</c:formatCode>
                <c:ptCount val="2"/>
                <c:pt idx="0">
                  <c:v>107</c:v>
                </c:pt>
                <c:pt idx="1">
                  <c:v>25.54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5DF-4C7E-AD2F-DDEFDFCC00D0}"/>
            </c:ext>
          </c:extLst>
        </c:ser>
        <c:ser>
          <c:idx val="2"/>
          <c:order val="2"/>
          <c:tx>
            <c:strRef>
              <c:f>'Task 4.1'!$A$4</c:f>
              <c:strCache>
                <c:ptCount val="1"/>
                <c:pt idx="0">
                  <c:v>W008</c:v>
                </c:pt>
              </c:strCache>
            </c:strRef>
          </c:tx>
          <c:spPr>
            <a:gradFill flip="none" rotWithShape="1">
              <a:gsLst>
                <a:gs pos="0">
                  <a:schemeClr val="accent3"/>
                </a:gs>
                <a:gs pos="75000">
                  <a:schemeClr val="accent3">
                    <a:lumMod val="60000"/>
                    <a:lumOff val="40000"/>
                  </a:schemeClr>
                </a:gs>
                <a:gs pos="51000">
                  <a:schemeClr val="accent3">
                    <a:alpha val="75000"/>
                  </a:schemeClr>
                </a:gs>
                <a:gs pos="100000">
                  <a:schemeClr val="accent3"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'Task 4.1'!$B$1:$C$1</c:f>
              <c:strCache>
                <c:ptCount val="2"/>
                <c:pt idx="0">
                  <c:v>Total_Shipments</c:v>
                </c:pt>
                <c:pt idx="1">
                  <c:v>Highest_Avg_Delay</c:v>
                </c:pt>
              </c:strCache>
            </c:strRef>
          </c:cat>
          <c:val>
            <c:numRef>
              <c:f>'Task 4.1'!$B$4:$C$4</c:f>
              <c:numCache>
                <c:formatCode>General</c:formatCode>
                <c:ptCount val="2"/>
                <c:pt idx="0">
                  <c:v>112</c:v>
                </c:pt>
                <c:pt idx="1">
                  <c:v>24.35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5DF-4C7E-AD2F-DDEFDFCC00D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55"/>
        <c:overlap val="-70"/>
        <c:axId val="1184413071"/>
        <c:axId val="1184413551"/>
      </c:barChart>
      <c:catAx>
        <c:axId val="1184413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4413551"/>
        <c:crosses val="autoZero"/>
        <c:auto val="1"/>
        <c:lblAlgn val="ctr"/>
        <c:lblOffset val="100"/>
        <c:noMultiLvlLbl val="0"/>
      </c:catAx>
      <c:valAx>
        <c:axId val="1184413551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tx1">
                      <a:lumMod val="5000"/>
                      <a:lumOff val="95000"/>
                    </a:schemeClr>
                  </a:gs>
                  <a:gs pos="0">
                    <a:schemeClr val="tx1">
                      <a:lumMod val="25000"/>
                      <a:lumOff val="7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44130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TOTAL_SHIPMENTS VS DELAYED_SHIPMENTS FOR EACH WAREHOUSE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'Task 4.2'!$B$1</c:f>
              <c:strCache>
                <c:ptCount val="1"/>
                <c:pt idx="0">
                  <c:v>Total_Shipments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accent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'Task 4.2'!$A$2:$A$12</c:f>
              <c:strCache>
                <c:ptCount val="10"/>
                <c:pt idx="0">
                  <c:v>W001</c:v>
                </c:pt>
                <c:pt idx="1">
                  <c:v>W002</c:v>
                </c:pt>
                <c:pt idx="2">
                  <c:v>W003</c:v>
                </c:pt>
                <c:pt idx="3">
                  <c:v>W004</c:v>
                </c:pt>
                <c:pt idx="4">
                  <c:v>W005</c:v>
                </c:pt>
                <c:pt idx="5">
                  <c:v>W006</c:v>
                </c:pt>
                <c:pt idx="6">
                  <c:v>W007</c:v>
                </c:pt>
                <c:pt idx="7">
                  <c:v>W008</c:v>
                </c:pt>
                <c:pt idx="8">
                  <c:v>W009</c:v>
                </c:pt>
                <c:pt idx="9">
                  <c:v>W010</c:v>
                </c:pt>
              </c:strCache>
            </c:strRef>
          </c:cat>
          <c:val>
            <c:numRef>
              <c:f>'Task 4.2'!$B$2:$B$12</c:f>
              <c:numCache>
                <c:formatCode>General</c:formatCode>
                <c:ptCount val="11"/>
                <c:pt idx="0">
                  <c:v>103</c:v>
                </c:pt>
                <c:pt idx="1">
                  <c:v>97</c:v>
                </c:pt>
                <c:pt idx="2">
                  <c:v>107</c:v>
                </c:pt>
                <c:pt idx="3">
                  <c:v>90</c:v>
                </c:pt>
                <c:pt idx="4">
                  <c:v>102</c:v>
                </c:pt>
                <c:pt idx="5">
                  <c:v>99</c:v>
                </c:pt>
                <c:pt idx="6">
                  <c:v>96</c:v>
                </c:pt>
                <c:pt idx="7">
                  <c:v>112</c:v>
                </c:pt>
                <c:pt idx="8">
                  <c:v>91</c:v>
                </c:pt>
                <c:pt idx="9">
                  <c:v>103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9A-400C-AAB5-96B8CAD43D30}"/>
            </c:ext>
          </c:extLst>
        </c:ser>
        <c:ser>
          <c:idx val="1"/>
          <c:order val="1"/>
          <c:tx>
            <c:strRef>
              <c:f>'Task 4.2'!$C$1</c:f>
              <c:strCache>
                <c:ptCount val="1"/>
                <c:pt idx="0">
                  <c:v>Delayed_Shipments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accent2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'Task 4.2'!$A$2:$A$12</c:f>
              <c:strCache>
                <c:ptCount val="10"/>
                <c:pt idx="0">
                  <c:v>W001</c:v>
                </c:pt>
                <c:pt idx="1">
                  <c:v>W002</c:v>
                </c:pt>
                <c:pt idx="2">
                  <c:v>W003</c:v>
                </c:pt>
                <c:pt idx="3">
                  <c:v>W004</c:v>
                </c:pt>
                <c:pt idx="4">
                  <c:v>W005</c:v>
                </c:pt>
                <c:pt idx="5">
                  <c:v>W006</c:v>
                </c:pt>
                <c:pt idx="6">
                  <c:v>W007</c:v>
                </c:pt>
                <c:pt idx="7">
                  <c:v>W008</c:v>
                </c:pt>
                <c:pt idx="8">
                  <c:v>W009</c:v>
                </c:pt>
                <c:pt idx="9">
                  <c:v>W010</c:v>
                </c:pt>
              </c:strCache>
            </c:strRef>
          </c:cat>
          <c:val>
            <c:numRef>
              <c:f>'Task 4.2'!$C$2:$C$12</c:f>
              <c:numCache>
                <c:formatCode>General</c:formatCode>
                <c:ptCount val="11"/>
                <c:pt idx="0">
                  <c:v>99</c:v>
                </c:pt>
                <c:pt idx="1">
                  <c:v>91</c:v>
                </c:pt>
                <c:pt idx="2">
                  <c:v>102</c:v>
                </c:pt>
                <c:pt idx="3">
                  <c:v>86</c:v>
                </c:pt>
                <c:pt idx="4">
                  <c:v>95</c:v>
                </c:pt>
                <c:pt idx="5">
                  <c:v>96</c:v>
                </c:pt>
                <c:pt idx="6">
                  <c:v>95</c:v>
                </c:pt>
                <c:pt idx="7">
                  <c:v>102</c:v>
                </c:pt>
                <c:pt idx="8">
                  <c:v>86</c:v>
                </c:pt>
                <c:pt idx="9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09A-400C-AAB5-96B8CAD43D3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184316591"/>
        <c:axId val="1184321871"/>
      </c:barChart>
      <c:catAx>
        <c:axId val="11843165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4321871"/>
        <c:crosses val="autoZero"/>
        <c:auto val="1"/>
        <c:lblAlgn val="ctr"/>
        <c:lblOffset val="100"/>
        <c:noMultiLvlLbl val="0"/>
      </c:catAx>
      <c:valAx>
        <c:axId val="11843218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43165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Chart </a:t>
            </a:r>
            <a:r>
              <a:rPr lang="en-IN" sz="1800" b="1" i="0" u="none" strike="noStrike" cap="all" baseline="0" dirty="0"/>
              <a:t>warehouses where average delay exceeds the global average delay</a:t>
            </a:r>
            <a:endParaRPr lang="en-IN" dirty="0"/>
          </a:p>
        </c:rich>
      </c:tx>
      <c:layout>
        <c:manualLayout>
          <c:xMode val="edge"/>
          <c:yMode val="edge"/>
          <c:x val="0.14060411198600176"/>
          <c:y val="3.745318352059925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>
        <c:manualLayout>
          <c:layoutTarget val="inner"/>
          <c:xMode val="edge"/>
          <c:yMode val="edge"/>
          <c:x val="0.12765048118985126"/>
          <c:y val="0.36173549467365268"/>
          <c:w val="0.84734951881014875"/>
          <c:h val="0.4216251994717888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'Task 4.3'!$B$1</c:f>
              <c:strCache>
                <c:ptCount val="1"/>
                <c:pt idx="0">
                  <c:v>Avg_delay</c:v>
                </c:pt>
              </c:strCache>
            </c:strRef>
          </c:tx>
          <c:spPr>
            <a:gradFill flip="none" rotWithShape="1">
              <a:gsLst>
                <a:gs pos="0">
                  <a:schemeClr val="accent1"/>
                </a:gs>
                <a:gs pos="75000">
                  <a:schemeClr val="accent1">
                    <a:lumMod val="60000"/>
                    <a:lumOff val="40000"/>
                  </a:schemeClr>
                </a:gs>
                <a:gs pos="51000">
                  <a:schemeClr val="accent1">
                    <a:alpha val="75000"/>
                  </a:schemeClr>
                </a:gs>
                <a:gs pos="100000">
                  <a:schemeClr val="accent1"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accent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'Task 4.3'!$A$2:$A$8</c:f>
              <c:strCache>
                <c:ptCount val="7"/>
                <c:pt idx="0">
                  <c:v>W008</c:v>
                </c:pt>
                <c:pt idx="1">
                  <c:v>W003</c:v>
                </c:pt>
                <c:pt idx="2">
                  <c:v>W004</c:v>
                </c:pt>
                <c:pt idx="3">
                  <c:v>W005</c:v>
                </c:pt>
                <c:pt idx="4">
                  <c:v>W010</c:v>
                </c:pt>
                <c:pt idx="5">
                  <c:v>W007</c:v>
                </c:pt>
                <c:pt idx="6">
                  <c:v>W006</c:v>
                </c:pt>
              </c:strCache>
            </c:strRef>
          </c:cat>
          <c:val>
            <c:numRef>
              <c:f>'Task 4.3'!$B$2:$B$8</c:f>
              <c:numCache>
                <c:formatCode>General</c:formatCode>
                <c:ptCount val="7"/>
                <c:pt idx="0">
                  <c:v>24.35</c:v>
                </c:pt>
                <c:pt idx="1">
                  <c:v>25.54</c:v>
                </c:pt>
                <c:pt idx="2">
                  <c:v>25.88</c:v>
                </c:pt>
                <c:pt idx="3">
                  <c:v>22.43</c:v>
                </c:pt>
                <c:pt idx="4">
                  <c:v>21.8</c:v>
                </c:pt>
                <c:pt idx="5">
                  <c:v>22.06</c:v>
                </c:pt>
                <c:pt idx="6">
                  <c:v>21.34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53-442E-BAB1-3D06CAC452F2}"/>
            </c:ext>
          </c:extLst>
        </c:ser>
        <c:ser>
          <c:idx val="1"/>
          <c:order val="1"/>
          <c:tx>
            <c:strRef>
              <c:f>'Task 4.3'!$C$1</c:f>
              <c:strCache>
                <c:ptCount val="1"/>
                <c:pt idx="0">
                  <c:v>Global_Avg_Delay</c:v>
                </c:pt>
              </c:strCache>
            </c:strRef>
          </c:tx>
          <c:spPr>
            <a:gradFill flip="none" rotWithShape="1">
              <a:gsLst>
                <a:gs pos="0">
                  <a:schemeClr val="accent2"/>
                </a:gs>
                <a:gs pos="75000">
                  <a:schemeClr val="accent2">
                    <a:lumMod val="60000"/>
                    <a:lumOff val="40000"/>
                  </a:schemeClr>
                </a:gs>
                <a:gs pos="51000">
                  <a:schemeClr val="accent2">
                    <a:alpha val="75000"/>
                  </a:schemeClr>
                </a:gs>
                <a:gs pos="100000">
                  <a:schemeClr val="accent2"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C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'Task 4.3'!$A$2:$A$8</c:f>
              <c:strCache>
                <c:ptCount val="7"/>
                <c:pt idx="0">
                  <c:v>W008</c:v>
                </c:pt>
                <c:pt idx="1">
                  <c:v>W003</c:v>
                </c:pt>
                <c:pt idx="2">
                  <c:v>W004</c:v>
                </c:pt>
                <c:pt idx="3">
                  <c:v>W005</c:v>
                </c:pt>
                <c:pt idx="4">
                  <c:v>W010</c:v>
                </c:pt>
                <c:pt idx="5">
                  <c:v>W007</c:v>
                </c:pt>
                <c:pt idx="6">
                  <c:v>W006</c:v>
                </c:pt>
              </c:strCache>
            </c:strRef>
          </c:cat>
          <c:val>
            <c:numRef>
              <c:f>'Task 4.3'!$C$2:$C$8</c:f>
              <c:numCache>
                <c:formatCode>General</c:formatCode>
                <c:ptCount val="7"/>
                <c:pt idx="0">
                  <c:v>21.306999999999999</c:v>
                </c:pt>
                <c:pt idx="1">
                  <c:v>21.306999999999999</c:v>
                </c:pt>
                <c:pt idx="2">
                  <c:v>21.306999999999999</c:v>
                </c:pt>
                <c:pt idx="3">
                  <c:v>21.306999999999999</c:v>
                </c:pt>
                <c:pt idx="4">
                  <c:v>21.306999999999999</c:v>
                </c:pt>
                <c:pt idx="5">
                  <c:v>21.306999999999999</c:v>
                </c:pt>
                <c:pt idx="6">
                  <c:v>21.306999999999999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D53-442E-BAB1-3D06CAC452F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55"/>
        <c:overlap val="-70"/>
        <c:axId val="1184319951"/>
        <c:axId val="1184311791"/>
      </c:barChart>
      <c:catAx>
        <c:axId val="118431995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Warehouse</a:t>
                </a:r>
                <a:r>
                  <a:rPr lang="en-IN" baseline="0"/>
                  <a:t> ID </a:t>
                </a:r>
                <a:endParaRPr lang="en-IN"/>
              </a:p>
            </c:rich>
          </c:tx>
          <c:layout>
            <c:manualLayout>
              <c:xMode val="edge"/>
              <c:yMode val="edge"/>
              <c:x val="0.45659601924759408"/>
              <c:y val="0.8424462859745529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4311791"/>
        <c:crosses val="autoZero"/>
        <c:auto val="1"/>
        <c:lblAlgn val="ctr"/>
        <c:lblOffset val="100"/>
        <c:noMultiLvlLbl val="0"/>
      </c:catAx>
      <c:valAx>
        <c:axId val="1184311791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tx1">
                      <a:lumMod val="5000"/>
                      <a:lumOff val="95000"/>
                    </a:schemeClr>
                  </a:gs>
                  <a:gs pos="0">
                    <a:schemeClr val="tx1">
                      <a:lumMod val="25000"/>
                      <a:lumOff val="7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Avg DELay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4319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 warehouses with highest on_time_del_Percentage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'Task 4.4'!$B$1</c:f>
              <c:strCache>
                <c:ptCount val="1"/>
                <c:pt idx="0">
                  <c:v>on_time_del_Pct</c:v>
                </c:pt>
              </c:strCache>
            </c:strRef>
          </c:tx>
          <c:spPr>
            <a:gradFill flip="none" rotWithShape="1">
              <a:gsLst>
                <a:gs pos="0">
                  <a:schemeClr val="accent1"/>
                </a:gs>
                <a:gs pos="75000">
                  <a:schemeClr val="accent1">
                    <a:lumMod val="60000"/>
                    <a:lumOff val="40000"/>
                  </a:schemeClr>
                </a:gs>
                <a:gs pos="51000">
                  <a:schemeClr val="accent1">
                    <a:alpha val="75000"/>
                  </a:schemeClr>
                </a:gs>
                <a:gs pos="100000">
                  <a:schemeClr val="accent1"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'Task 4.4'!$A$2:$A$11</c:f>
              <c:strCache>
                <c:ptCount val="10"/>
                <c:pt idx="0">
                  <c:v>W008</c:v>
                </c:pt>
                <c:pt idx="1">
                  <c:v>W010</c:v>
                </c:pt>
                <c:pt idx="2">
                  <c:v>W005</c:v>
                </c:pt>
                <c:pt idx="3">
                  <c:v>W002</c:v>
                </c:pt>
                <c:pt idx="4">
                  <c:v>W009</c:v>
                </c:pt>
                <c:pt idx="5">
                  <c:v>W003</c:v>
                </c:pt>
                <c:pt idx="6">
                  <c:v>W004</c:v>
                </c:pt>
                <c:pt idx="7">
                  <c:v>W001</c:v>
                </c:pt>
                <c:pt idx="8">
                  <c:v>W006</c:v>
                </c:pt>
                <c:pt idx="9">
                  <c:v>W007</c:v>
                </c:pt>
              </c:strCache>
            </c:strRef>
          </c:cat>
          <c:val>
            <c:numRef>
              <c:f>'Task 4.4'!$B$2:$B$11</c:f>
              <c:numCache>
                <c:formatCode>General</c:formatCode>
                <c:ptCount val="10"/>
                <c:pt idx="0">
                  <c:v>8.93</c:v>
                </c:pt>
                <c:pt idx="1">
                  <c:v>7.77</c:v>
                </c:pt>
                <c:pt idx="2">
                  <c:v>6.86</c:v>
                </c:pt>
                <c:pt idx="3">
                  <c:v>6.19</c:v>
                </c:pt>
                <c:pt idx="4">
                  <c:v>5.49</c:v>
                </c:pt>
                <c:pt idx="5">
                  <c:v>4.67</c:v>
                </c:pt>
                <c:pt idx="6">
                  <c:v>4.4400000000000004</c:v>
                </c:pt>
                <c:pt idx="7">
                  <c:v>3.88</c:v>
                </c:pt>
                <c:pt idx="8">
                  <c:v>3.03</c:v>
                </c:pt>
                <c:pt idx="9">
                  <c:v>1.04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F3-437E-A51A-92514D7A933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55"/>
        <c:overlap val="-70"/>
        <c:axId val="1195083567"/>
        <c:axId val="1195081167"/>
      </c:barChart>
      <c:catAx>
        <c:axId val="119508356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Warehouse_ID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5081167"/>
        <c:crosses val="autoZero"/>
        <c:auto val="1"/>
        <c:lblAlgn val="ctr"/>
        <c:lblOffset val="100"/>
        <c:noMultiLvlLbl val="0"/>
      </c:catAx>
      <c:valAx>
        <c:axId val="1195081167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tx1">
                      <a:lumMod val="5000"/>
                      <a:lumOff val="95000"/>
                    </a:schemeClr>
                  </a:gs>
                  <a:gs pos="0">
                    <a:schemeClr val="tx1">
                      <a:lumMod val="25000"/>
                      <a:lumOff val="7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On_time_Del_Percentage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50835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Top 10 Agents with on</a:t>
            </a:r>
            <a:r>
              <a:rPr lang="en-IN" baseline="0" dirty="0"/>
              <a:t> </a:t>
            </a:r>
            <a:r>
              <a:rPr lang="en-IN" dirty="0"/>
              <a:t>time</a:t>
            </a:r>
            <a:r>
              <a:rPr lang="en-IN" baseline="0" dirty="0"/>
              <a:t> Delivery %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'Task 5.2'!$B$1</c:f>
              <c:strCache>
                <c:ptCount val="1"/>
                <c:pt idx="0">
                  <c:v>on_time_del_pct</c:v>
                </c:pt>
              </c:strCache>
            </c:strRef>
          </c:tx>
          <c:spPr>
            <a:gradFill flip="none" rotWithShape="1">
              <a:gsLst>
                <a:gs pos="0">
                  <a:schemeClr val="accent1"/>
                </a:gs>
                <a:gs pos="75000">
                  <a:schemeClr val="accent1">
                    <a:lumMod val="60000"/>
                    <a:lumOff val="40000"/>
                  </a:schemeClr>
                </a:gs>
                <a:gs pos="51000">
                  <a:schemeClr val="accent1">
                    <a:alpha val="75000"/>
                  </a:schemeClr>
                </a:gs>
                <a:gs pos="100000">
                  <a:schemeClr val="accent1"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'Task 5.2'!$A$2:$A$11</c:f>
              <c:strCache>
                <c:ptCount val="10"/>
                <c:pt idx="0">
                  <c:v>A0014</c:v>
                </c:pt>
                <c:pt idx="1">
                  <c:v>A0019</c:v>
                </c:pt>
                <c:pt idx="2">
                  <c:v>A0002</c:v>
                </c:pt>
                <c:pt idx="3">
                  <c:v>A0043</c:v>
                </c:pt>
                <c:pt idx="4">
                  <c:v>A0009</c:v>
                </c:pt>
                <c:pt idx="5">
                  <c:v>A0018</c:v>
                </c:pt>
                <c:pt idx="6">
                  <c:v>A0028</c:v>
                </c:pt>
                <c:pt idx="7">
                  <c:v>A0042</c:v>
                </c:pt>
                <c:pt idx="8">
                  <c:v>A0008</c:v>
                </c:pt>
                <c:pt idx="9">
                  <c:v>A0025</c:v>
                </c:pt>
              </c:strCache>
            </c:strRef>
          </c:cat>
          <c:val>
            <c:numRef>
              <c:f>'Task 5.2'!$B$2:$B$11</c:f>
              <c:numCache>
                <c:formatCode>General</c:formatCode>
                <c:ptCount val="10"/>
                <c:pt idx="0">
                  <c:v>23.81</c:v>
                </c:pt>
                <c:pt idx="1">
                  <c:v>21.74</c:v>
                </c:pt>
                <c:pt idx="2">
                  <c:v>20</c:v>
                </c:pt>
                <c:pt idx="3">
                  <c:v>18.75</c:v>
                </c:pt>
                <c:pt idx="4">
                  <c:v>17.39</c:v>
                </c:pt>
                <c:pt idx="5">
                  <c:v>15.38</c:v>
                </c:pt>
                <c:pt idx="6">
                  <c:v>14.29</c:v>
                </c:pt>
                <c:pt idx="7">
                  <c:v>13.64</c:v>
                </c:pt>
                <c:pt idx="8">
                  <c:v>13.64</c:v>
                </c:pt>
                <c:pt idx="9">
                  <c:v>12.5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9A-411F-B983-3B4F7E68E5F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55"/>
        <c:overlap val="-70"/>
        <c:axId val="1195144527"/>
        <c:axId val="1195147407"/>
      </c:barChart>
      <c:catAx>
        <c:axId val="119514452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Agent_ID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5147407"/>
        <c:crosses val="autoZero"/>
        <c:auto val="1"/>
        <c:lblAlgn val="ctr"/>
        <c:lblOffset val="100"/>
        <c:noMultiLvlLbl val="0"/>
      </c:catAx>
      <c:valAx>
        <c:axId val="1195147407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tx1">
                      <a:lumMod val="5000"/>
                      <a:lumOff val="95000"/>
                    </a:schemeClr>
                  </a:gs>
                  <a:gs pos="0">
                    <a:schemeClr val="tx1">
                      <a:lumMod val="25000"/>
                      <a:lumOff val="7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on_time_del_percentage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51445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Average rating and Experience(years) of Top and Bottom 5 Agents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'Task 5.3'!$B$1</c:f>
              <c:strCache>
                <c:ptCount val="1"/>
                <c:pt idx="0">
                  <c:v>Avg_Experience_Years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'Task 5.3'!$A$2:$A$3</c:f>
              <c:strCache>
                <c:ptCount val="2"/>
                <c:pt idx="0">
                  <c:v>Top 5 Agents</c:v>
                </c:pt>
                <c:pt idx="1">
                  <c:v>Bottom 5 Agents</c:v>
                </c:pt>
              </c:strCache>
            </c:strRef>
          </c:cat>
          <c:val>
            <c:numRef>
              <c:f>'Task 5.3'!$B$2:$B$3</c:f>
              <c:numCache>
                <c:formatCode>General</c:formatCode>
                <c:ptCount val="2"/>
                <c:pt idx="0">
                  <c:v>2.6</c:v>
                </c:pt>
                <c:pt idx="1">
                  <c:v>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A9-479C-8F52-689F2A73D63D}"/>
            </c:ext>
          </c:extLst>
        </c:ser>
        <c:ser>
          <c:idx val="1"/>
          <c:order val="1"/>
          <c:tx>
            <c:strRef>
              <c:f>'Task 5.3'!$C$1</c:f>
              <c:strCache>
                <c:ptCount val="1"/>
                <c:pt idx="0">
                  <c:v>Avg_rating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'Task 5.3'!$A$2:$A$3</c:f>
              <c:strCache>
                <c:ptCount val="2"/>
                <c:pt idx="0">
                  <c:v>Top 5 Agents</c:v>
                </c:pt>
                <c:pt idx="1">
                  <c:v>Bottom 5 Agents</c:v>
                </c:pt>
              </c:strCache>
            </c:strRef>
          </c:cat>
          <c:val>
            <c:numRef>
              <c:f>'Task 5.3'!$C$2:$C$3</c:f>
              <c:numCache>
                <c:formatCode>General</c:formatCode>
                <c:ptCount val="2"/>
                <c:pt idx="0">
                  <c:v>5.0199999999999996</c:v>
                </c:pt>
                <c:pt idx="1">
                  <c:v>3.54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6A9-479C-8F52-689F2A73D63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195152687"/>
        <c:axId val="1195140207"/>
      </c:barChart>
      <c:catAx>
        <c:axId val="11951526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5140207"/>
        <c:crosses val="autoZero"/>
        <c:auto val="1"/>
        <c:lblAlgn val="ctr"/>
        <c:lblOffset val="100"/>
        <c:noMultiLvlLbl val="0"/>
      </c:catAx>
      <c:valAx>
        <c:axId val="11951402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51526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Warehouse Utilization Percentage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'Task 7.4'!$B$1</c:f>
              <c:strCache>
                <c:ptCount val="1"/>
                <c:pt idx="0">
                  <c:v>Warehouse_Utilization_Percentage</c:v>
                </c:pt>
              </c:strCache>
            </c:strRef>
          </c:tx>
          <c:spPr>
            <a:gradFill flip="none" rotWithShape="1">
              <a:gsLst>
                <a:gs pos="0">
                  <a:schemeClr val="accent1"/>
                </a:gs>
                <a:gs pos="75000">
                  <a:schemeClr val="accent1">
                    <a:lumMod val="60000"/>
                    <a:lumOff val="40000"/>
                  </a:schemeClr>
                </a:gs>
                <a:gs pos="51000">
                  <a:schemeClr val="accent1">
                    <a:alpha val="75000"/>
                  </a:schemeClr>
                </a:gs>
                <a:gs pos="100000">
                  <a:schemeClr val="accent1"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'Task 7.4'!$A$2:$A$11</c:f>
              <c:strCache>
                <c:ptCount val="10"/>
                <c:pt idx="0">
                  <c:v>W010</c:v>
                </c:pt>
                <c:pt idx="1">
                  <c:v>W005</c:v>
                </c:pt>
                <c:pt idx="2">
                  <c:v>W002</c:v>
                </c:pt>
                <c:pt idx="3">
                  <c:v>W004</c:v>
                </c:pt>
                <c:pt idx="4">
                  <c:v>W008</c:v>
                </c:pt>
                <c:pt idx="5">
                  <c:v>W006</c:v>
                </c:pt>
                <c:pt idx="6">
                  <c:v>W007</c:v>
                </c:pt>
                <c:pt idx="7">
                  <c:v>W003</c:v>
                </c:pt>
                <c:pt idx="8">
                  <c:v>W001</c:v>
                </c:pt>
                <c:pt idx="9">
                  <c:v>W009</c:v>
                </c:pt>
              </c:strCache>
            </c:strRef>
          </c:cat>
          <c:val>
            <c:numRef>
              <c:f>'Task 7.4'!$B$2:$B$11</c:f>
              <c:numCache>
                <c:formatCode>General</c:formatCode>
                <c:ptCount val="10"/>
                <c:pt idx="0">
                  <c:v>10.3</c:v>
                </c:pt>
                <c:pt idx="1">
                  <c:v>10.199999999999999</c:v>
                </c:pt>
                <c:pt idx="2">
                  <c:v>6.47</c:v>
                </c:pt>
                <c:pt idx="3">
                  <c:v>6</c:v>
                </c:pt>
                <c:pt idx="4">
                  <c:v>4.4800000000000004</c:v>
                </c:pt>
                <c:pt idx="5">
                  <c:v>3.96</c:v>
                </c:pt>
                <c:pt idx="6">
                  <c:v>3.84</c:v>
                </c:pt>
                <c:pt idx="7">
                  <c:v>3.57</c:v>
                </c:pt>
                <c:pt idx="8">
                  <c:v>3.43</c:v>
                </c:pt>
                <c:pt idx="9">
                  <c:v>3.03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1C-45CA-A690-EB543FA1A92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55"/>
        <c:overlap val="-70"/>
        <c:axId val="1195135887"/>
        <c:axId val="1195132527"/>
      </c:barChart>
      <c:catAx>
        <c:axId val="119513588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Warehouse ID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5132527"/>
        <c:crosses val="autoZero"/>
        <c:auto val="1"/>
        <c:lblAlgn val="ctr"/>
        <c:lblOffset val="100"/>
        <c:noMultiLvlLbl val="0"/>
      </c:catAx>
      <c:valAx>
        <c:axId val="1195132527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tx1">
                      <a:lumMod val="5000"/>
                      <a:lumOff val="95000"/>
                    </a:schemeClr>
                  </a:gs>
                  <a:gs pos="0">
                    <a:schemeClr val="tx1">
                      <a:lumMod val="25000"/>
                      <a:lumOff val="7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Utilization %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51358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F1E3B-5C3F-C87B-69E7-BDEA1CB7C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53E33C-200E-A92C-3E89-04D5B2313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4ABB5-930D-88EA-F23D-703CEB60E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41F41-8BD4-40DB-904A-8F2C7503935F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AC2F1-1C60-D153-8720-F572BF885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F6043-42CC-F0CE-3A65-F1B9957F3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9565-25CA-4ED7-9B08-64F997710C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3329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017D2-3C38-3FD8-9C28-C3B135FB8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421DD-37BF-9C9F-9286-5CA6F9297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ACD92-BB5D-7C2E-AFF1-42D9BD893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41F41-8BD4-40DB-904A-8F2C7503935F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4FBD-0E9F-565F-78B9-0091B8DAC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CFAF0-3B15-BCB8-1130-9ADFC2750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9565-25CA-4ED7-9B08-64F997710C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454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3AF28-E1FF-2A8F-AF4C-AC2101C28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274239-83EA-DCB6-8742-6AB5DBE51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5A8C3-9ACA-BAF1-D2FD-6A4659ED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41F41-8BD4-40DB-904A-8F2C7503935F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4ECB1-FC4E-D51C-F748-4546AE69B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88AE1-6FAE-D7A4-D397-240A859D5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9565-25CA-4ED7-9B08-64F997710C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412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EAD26-2BFE-CD21-2521-15EBEBFD9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E3D1F-9386-6B4F-B179-14417D5FA4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670C3-DEC8-379F-5018-75D0046964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4C1684-55FB-E00E-16DE-14A0AD36D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41F41-8BD4-40DB-904A-8F2C7503935F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20B7A0-77A7-30C4-C5B1-A3D9F283F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800627-CB84-06B4-F6C3-E5F6A624F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9565-25CA-4ED7-9B08-64F997710C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304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7E34D-B0D4-C59A-1616-B2B58B47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353787-1BED-6AEC-4FD5-5C794EB01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3A6CB4-D605-41DF-F025-969924C193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753449-DAD0-5267-840C-8CC3189247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6EFCA1-880B-4304-304B-9DDA136BA0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6AA3A-DC6F-646B-AA76-55221E147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41F41-8BD4-40DB-904A-8F2C7503935F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DF44B7-74F5-7B7F-7C51-3375BBACA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72AE48-978E-05D4-CDDD-E718F6938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9565-25CA-4ED7-9B08-64F997710C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132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46AB4-7C16-FBE8-4E53-1DA2DD5EE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031F21-9789-6D81-F8B0-63261FE0D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41F41-8BD4-40DB-904A-8F2C7503935F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34771F-EFB0-1FE0-8102-5B0FC7909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253363-FB76-998A-7DC2-D57C2E20C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9565-25CA-4ED7-9B08-64F997710C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524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518D62-427F-FF1D-C499-1CA6F74F2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41F41-8BD4-40DB-904A-8F2C7503935F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EDDD81-AA6B-3495-05E8-5AFF7DDA8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A5BA4-A0C4-4A0E-F716-1489D63F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9565-25CA-4ED7-9B08-64F997710C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8713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1881F-C92A-BE57-B354-2268CF3CD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7B0DB-F260-7A9A-CBBD-056A14708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04BD8F-756A-CCF6-EAF4-41950B3FFA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EC523D-7177-1CD1-CA5E-3A5E4ADDE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41F41-8BD4-40DB-904A-8F2C7503935F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877CE2-9326-1487-60AD-3582335B6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D12389-97FB-5290-4F02-44BE7E2C7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9565-25CA-4ED7-9B08-64F997710C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376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EB3D3-15CD-D839-44F9-6BFF99915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349FB5-EFAC-5393-AC95-3D38BC98BD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766A36-857B-6421-C3FB-1C5AEBB100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EAD55C-C983-2322-9835-A807B3840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41F41-8BD4-40DB-904A-8F2C7503935F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6DEFDE-D129-DAF1-5A2D-E56E257B8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367C0A-A16D-E6BE-1F9A-FD3D7A691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9565-25CA-4ED7-9B08-64F997710C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825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56B7F-D767-9BA0-E084-D5B31C44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482838-0337-6384-CD4F-C9EAA75AA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935E27-7E39-BD2B-6A16-110A74992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41F41-8BD4-40DB-904A-8F2C7503935F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7D613-E89B-21C5-5E09-C3D69F408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DBA86-0B88-6B20-ABB0-2170A9A40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9565-25CA-4ED7-9B08-64F997710C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9769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40FDAB-B752-330C-1626-711CCE2248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9E08B4-2F27-7105-9BB8-EBB0567C3A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ADAD7-940C-238D-E5FC-43A7F5A0B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41F41-8BD4-40DB-904A-8F2C7503935F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5AA25-D126-7BAB-2F66-2254DAC20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482EB-1C4B-7A92-76FC-BC7254652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59565-25CA-4ED7-9B08-64F997710C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947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683D63-BE40-615D-2CED-6431B918F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2C2F1B-3200-1FC6-B482-CEF53E273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4A060-2BA8-60B9-BB55-0DC34F67F5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B41F41-8BD4-40DB-904A-8F2C7503935F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4BE4E-5039-D9FD-8AA6-2A8C01856A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50ABE-1C31-1508-7C9F-A4E107BFD5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D59565-25CA-4ED7-9B08-64F997710C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5901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801" r:id="rId6"/>
    <p:sldLayoutId id="2147483802" r:id="rId7"/>
    <p:sldLayoutId id="2147483803" r:id="rId8"/>
    <p:sldLayoutId id="2147483804" r:id="rId9"/>
    <p:sldLayoutId id="2147483805" r:id="rId10"/>
    <p:sldLayoutId id="21474838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33F50B6-E656-F0E1-E358-52432BDC3E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r>
              <a:rPr lang="en-US" sz="4000" dirty="0">
                <a:latin typeface="Eras Demi ITC" panose="020B0805030504020804" pitchFamily="34" charset="0"/>
              </a:rPr>
              <a:t>Logistics Optimization for Delivery Routes – DHL</a:t>
            </a:r>
            <a:endParaRPr lang="en-IN" sz="4000" dirty="0">
              <a:latin typeface="Eras Demi ITC" panose="020B08050305040208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1C34CC-8FFF-7FBD-D2BC-B18E901D5FDB}"/>
              </a:ext>
            </a:extLst>
          </p:cNvPr>
          <p:cNvSpPr/>
          <p:nvPr/>
        </p:nvSpPr>
        <p:spPr>
          <a:xfrm>
            <a:off x="1981200" y="578750"/>
            <a:ext cx="8229600" cy="246982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latin typeface="Gill Sans Ultra Bold" panose="020B0A02020104020203" pitchFamily="34" charset="0"/>
              </a:rPr>
              <a:t>SQL PROJECT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F61F6E5-A70A-A360-2606-E9CD0B6ADFE8}"/>
              </a:ext>
            </a:extLst>
          </p:cNvPr>
          <p:cNvSpPr/>
          <p:nvPr/>
        </p:nvSpPr>
        <p:spPr>
          <a:xfrm>
            <a:off x="565608" y="5703216"/>
            <a:ext cx="11104776" cy="10463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w Cen MT Condensed Extra Bold" panose="020B0803020202020204" pitchFamily="34" charset="0"/>
              </a:rPr>
              <a:t>BY : ALPANA PRAJAPATI </a:t>
            </a:r>
          </a:p>
          <a:p>
            <a:pPr algn="ctr"/>
            <a:r>
              <a:rPr lang="en-IN" dirty="0">
                <a:latin typeface="Tw Cen MT Condensed Extra Bold" panose="020B0803020202020204" pitchFamily="34" charset="0"/>
              </a:rPr>
              <a:t>October Batch</a:t>
            </a:r>
          </a:p>
          <a:p>
            <a:pPr algn="ctr"/>
            <a:r>
              <a:rPr lang="en-IN" dirty="0">
                <a:latin typeface="Tw Cen MT Condensed Extra Bold" panose="020B0803020202020204" pitchFamily="34" charset="0"/>
              </a:rPr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3344207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06DCC-252B-2254-016E-31EF621BC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816" y="365125"/>
            <a:ext cx="11670384" cy="1325563"/>
          </a:xfrm>
        </p:spPr>
        <p:txBody>
          <a:bodyPr>
            <a:normAutofit/>
          </a:bodyPr>
          <a:lstStyle/>
          <a:p>
            <a:r>
              <a:rPr lang="en-IN" dirty="0">
                <a:latin typeface="Arial Black" panose="020B0A04020102020204" pitchFamily="34" charset="0"/>
              </a:rPr>
              <a:t>Task 1 : Data Cleaning &amp;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AC78E-5598-D78A-6CE9-5D24C5441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Gadugi" panose="020B0502040204020203" pitchFamily="34" charset="0"/>
                <a:ea typeface="Gadugi" panose="020B0502040204020203" pitchFamily="34" charset="0"/>
              </a:rPr>
              <a:t>Task 1.1 : Identify and delete duplicate </a:t>
            </a:r>
            <a:r>
              <a:rPr lang="en-US" sz="1800" b="1" dirty="0" err="1">
                <a:latin typeface="Gadugi" panose="020B0502040204020203" pitchFamily="34" charset="0"/>
                <a:ea typeface="Gadugi" panose="020B0502040204020203" pitchFamily="34" charset="0"/>
              </a:rPr>
              <a:t>Order_ID</a:t>
            </a:r>
            <a:r>
              <a:rPr lang="en-US" sz="1800" b="1" dirty="0">
                <a:latin typeface="Gadugi" panose="020B0502040204020203" pitchFamily="34" charset="0"/>
                <a:ea typeface="Gadugi" panose="020B0502040204020203" pitchFamily="34" charset="0"/>
              </a:rPr>
              <a:t> or </a:t>
            </a:r>
            <a:r>
              <a:rPr lang="en-US" sz="1800" b="1" dirty="0" err="1">
                <a:latin typeface="Gadugi" panose="020B0502040204020203" pitchFamily="34" charset="0"/>
                <a:ea typeface="Gadugi" panose="020B0502040204020203" pitchFamily="34" charset="0"/>
              </a:rPr>
              <a:t>Shipment_ID</a:t>
            </a:r>
            <a:r>
              <a:rPr lang="en-US" sz="1800" b="1" dirty="0">
                <a:latin typeface="Gadugi" panose="020B0502040204020203" pitchFamily="34" charset="0"/>
                <a:ea typeface="Gadugi" panose="020B0502040204020203" pitchFamily="34" charset="0"/>
              </a:rPr>
              <a:t> records. </a:t>
            </a:r>
          </a:p>
          <a:p>
            <a:pPr lvl="1"/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SELECT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Order_ID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, COUNT(*) AS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cnt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FROM Orders GROUP BY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Order_ID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HAVING COUNT(*) &gt; 1;</a:t>
            </a:r>
          </a:p>
          <a:p>
            <a:pPr marL="0" indent="0">
              <a:buNone/>
            </a:pPr>
            <a:r>
              <a:rPr lang="en-US" sz="1800" b="1" dirty="0">
                <a:latin typeface="Gadugi" panose="020B0502040204020203" pitchFamily="34" charset="0"/>
                <a:ea typeface="Gadugi" panose="020B0502040204020203" pitchFamily="34" charset="0"/>
              </a:rPr>
              <a:t>Task 1.2 : Replace null or missing </a:t>
            </a:r>
            <a:r>
              <a:rPr lang="en-US" sz="1800" b="1" dirty="0" err="1">
                <a:latin typeface="Gadugi" panose="020B0502040204020203" pitchFamily="34" charset="0"/>
                <a:ea typeface="Gadugi" panose="020B0502040204020203" pitchFamily="34" charset="0"/>
              </a:rPr>
              <a:t>Delay_Hours</a:t>
            </a:r>
            <a:r>
              <a:rPr lang="en-US" sz="1800" b="1" dirty="0">
                <a:latin typeface="Gadugi" panose="020B0502040204020203" pitchFamily="34" charset="0"/>
                <a:ea typeface="Gadugi" panose="020B0502040204020203" pitchFamily="34" charset="0"/>
              </a:rPr>
              <a:t> values in the Shipments Table with the average delay for that </a:t>
            </a:r>
            <a:r>
              <a:rPr lang="en-US" sz="1800" b="1" dirty="0" err="1">
                <a:latin typeface="Gadugi" panose="020B0502040204020203" pitchFamily="34" charset="0"/>
                <a:ea typeface="Gadugi" panose="020B0502040204020203" pitchFamily="34" charset="0"/>
              </a:rPr>
              <a:t>Route_ID</a:t>
            </a:r>
            <a:r>
              <a:rPr lang="en-US" sz="1800" b="1" dirty="0">
                <a:latin typeface="Gadugi" panose="020B0502040204020203" pitchFamily="34" charset="0"/>
                <a:ea typeface="Gadugi" panose="020B0502040204020203" pitchFamily="34" charset="0"/>
              </a:rPr>
              <a:t>. </a:t>
            </a:r>
          </a:p>
          <a:p>
            <a:pPr lvl="1"/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select * from orders where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order_ID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is null; </a:t>
            </a:r>
          </a:p>
          <a:p>
            <a:pPr lvl="1"/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select * from Shipments where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Shipment_ID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is null;</a:t>
            </a:r>
          </a:p>
          <a:p>
            <a:pPr marL="0" indent="0">
              <a:buNone/>
            </a:pPr>
            <a:r>
              <a:rPr lang="en-US" sz="1800" b="1" dirty="0">
                <a:latin typeface="Gadugi" panose="020B0502040204020203" pitchFamily="34" charset="0"/>
                <a:ea typeface="Gadugi" panose="020B0502040204020203" pitchFamily="34" charset="0"/>
              </a:rPr>
              <a:t>Task 1.3 : Convert all date columns (</a:t>
            </a:r>
            <a:r>
              <a:rPr lang="en-US" sz="1800" b="1" dirty="0" err="1">
                <a:latin typeface="Gadugi" panose="020B0502040204020203" pitchFamily="34" charset="0"/>
                <a:ea typeface="Gadugi" panose="020B0502040204020203" pitchFamily="34" charset="0"/>
              </a:rPr>
              <a:t>Order_Date</a:t>
            </a:r>
            <a:r>
              <a:rPr lang="en-US" sz="1800" b="1" dirty="0">
                <a:latin typeface="Gadugi" panose="020B0502040204020203" pitchFamily="34" charset="0"/>
                <a:ea typeface="Gadugi" panose="020B0502040204020203" pitchFamily="34" charset="0"/>
              </a:rPr>
              <a:t>, </a:t>
            </a:r>
            <a:r>
              <a:rPr lang="en-US" sz="1800" b="1" dirty="0" err="1">
                <a:latin typeface="Gadugi" panose="020B0502040204020203" pitchFamily="34" charset="0"/>
                <a:ea typeface="Gadugi" panose="020B0502040204020203" pitchFamily="34" charset="0"/>
              </a:rPr>
              <a:t>Pickup_Date</a:t>
            </a:r>
            <a:r>
              <a:rPr lang="en-US" sz="1800" b="1" dirty="0">
                <a:latin typeface="Gadugi" panose="020B0502040204020203" pitchFamily="34" charset="0"/>
                <a:ea typeface="Gadugi" panose="020B0502040204020203" pitchFamily="34" charset="0"/>
              </a:rPr>
              <a:t>, </a:t>
            </a:r>
            <a:r>
              <a:rPr lang="en-US" sz="1800" b="1" dirty="0" err="1">
                <a:latin typeface="Gadugi" panose="020B0502040204020203" pitchFamily="34" charset="0"/>
                <a:ea typeface="Gadugi" panose="020B0502040204020203" pitchFamily="34" charset="0"/>
              </a:rPr>
              <a:t>Delivery_Date</a:t>
            </a:r>
            <a:r>
              <a:rPr lang="en-US" sz="1800" b="1" dirty="0">
                <a:latin typeface="Gadugi" panose="020B0502040204020203" pitchFamily="34" charset="0"/>
                <a:ea typeface="Gadugi" panose="020B0502040204020203" pitchFamily="34" charset="0"/>
              </a:rPr>
              <a:t>) into YYYY-MM-DD HH:MM:SS format using SQL date functions.</a:t>
            </a:r>
          </a:p>
          <a:p>
            <a:pPr lvl="1"/>
            <a:r>
              <a:rPr lang="en-US" sz="1400" dirty="0">
                <a:latin typeface="Gadugi" panose="020B0502040204020203" pitchFamily="34" charset="0"/>
                <a:ea typeface="Gadugi" panose="020B0502040204020203" pitchFamily="34" charset="0"/>
              </a:rPr>
              <a:t>Dates were already in the required format.</a:t>
            </a:r>
          </a:p>
          <a:p>
            <a:pPr marL="0" indent="0">
              <a:buNone/>
            </a:pPr>
            <a:r>
              <a:rPr lang="en-US" sz="1800" b="1" dirty="0">
                <a:latin typeface="Gadugi" panose="020B0502040204020203" pitchFamily="34" charset="0"/>
                <a:ea typeface="Gadugi" panose="020B0502040204020203" pitchFamily="34" charset="0"/>
              </a:rPr>
              <a:t>Task 1.4 : Ensure that no </a:t>
            </a:r>
            <a:r>
              <a:rPr lang="en-US" sz="1800" b="1" dirty="0" err="1">
                <a:latin typeface="Gadugi" panose="020B0502040204020203" pitchFamily="34" charset="0"/>
                <a:ea typeface="Gadugi" panose="020B0502040204020203" pitchFamily="34" charset="0"/>
              </a:rPr>
              <a:t>Delivery_Date</a:t>
            </a:r>
            <a:r>
              <a:rPr lang="en-US" sz="1800" b="1" dirty="0">
                <a:latin typeface="Gadugi" panose="020B0502040204020203" pitchFamily="34" charset="0"/>
                <a:ea typeface="Gadugi" panose="020B0502040204020203" pitchFamily="34" charset="0"/>
              </a:rPr>
              <a:t> occurs before </a:t>
            </a:r>
            <a:r>
              <a:rPr lang="en-US" sz="1800" b="1" dirty="0" err="1">
                <a:latin typeface="Gadugi" panose="020B0502040204020203" pitchFamily="34" charset="0"/>
                <a:ea typeface="Gadugi" panose="020B0502040204020203" pitchFamily="34" charset="0"/>
              </a:rPr>
              <a:t>Pickup_Date</a:t>
            </a:r>
            <a:r>
              <a:rPr lang="en-US" sz="1800" b="1" dirty="0">
                <a:latin typeface="Gadugi" panose="020B0502040204020203" pitchFamily="34" charset="0"/>
                <a:ea typeface="Gadugi" panose="020B0502040204020203" pitchFamily="34" charset="0"/>
              </a:rPr>
              <a:t> (flag such records). </a:t>
            </a:r>
          </a:p>
          <a:p>
            <a:pPr lvl="1"/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Select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Shipment_ID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,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Pickup_Date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,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Delivery_Date,Case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When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Delivery_Date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&lt;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Pickup_Date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Then 'Invalid' Else 'Valid' END as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Date_Statusfrom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Shipments;</a:t>
            </a:r>
          </a:p>
        </p:txBody>
      </p:sp>
    </p:spTree>
    <p:extLst>
      <p:ext uri="{BB962C8B-B14F-4D97-AF65-F5344CB8AC3E}">
        <p14:creationId xmlns:p14="http://schemas.microsoft.com/office/powerpoint/2010/main" val="875636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2F4C1-31B4-1430-571E-2AFDBB57D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862" y="1080907"/>
            <a:ext cx="10515600" cy="2784082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Gadugi" panose="020B0502040204020203" pitchFamily="34" charset="0"/>
                <a:ea typeface="Gadugi" panose="020B0502040204020203" pitchFamily="34" charset="0"/>
              </a:rPr>
              <a:t>Orders Integrity 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- select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s.Order_ID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as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Shipment_order_ID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,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o.Order_ID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as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Orders_Order_ID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from Shipments s left Join Orders o on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s.Order_ID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=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o.Order_ID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 where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o.Order_ID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is NULL;</a:t>
            </a:r>
          </a:p>
          <a:p>
            <a:r>
              <a:rPr lang="en-US" sz="1800" b="1" dirty="0">
                <a:latin typeface="Gadugi" panose="020B0502040204020203" pitchFamily="34" charset="0"/>
                <a:ea typeface="Gadugi" panose="020B0502040204020203" pitchFamily="34" charset="0"/>
              </a:rPr>
              <a:t>Routes Integrity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- select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s.Route_ID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as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S_Route_ID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,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r.Route_ID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as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R_Route_ID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from Shipments s left Join Routes r on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s.Route_ID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 =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r.Route_ID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 where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r.Route_ID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is NULL;</a:t>
            </a:r>
          </a:p>
          <a:p>
            <a:r>
              <a:rPr lang="en-US" sz="1800" b="1" dirty="0">
                <a:latin typeface="Gadugi" panose="020B0502040204020203" pitchFamily="34" charset="0"/>
                <a:ea typeface="Gadugi" panose="020B0502040204020203" pitchFamily="34" charset="0"/>
              </a:rPr>
              <a:t>Warehouses Integrity 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- select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s.Warehouse_ID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as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S_Warehouse_ID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,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w.Warehouse_ID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as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w_Warehouse_ID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from Shipments s left Join Warehouses w on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s.Warehouse_ID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 =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w.Warehouse_ID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 where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w.Warehouse_ID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is NULL;</a:t>
            </a:r>
          </a:p>
          <a:p>
            <a:r>
              <a:rPr lang="en-US" sz="1800" b="1" dirty="0">
                <a:latin typeface="Gadugi" panose="020B0502040204020203" pitchFamily="34" charset="0"/>
                <a:ea typeface="Gadugi" panose="020B0502040204020203" pitchFamily="34" charset="0"/>
              </a:rPr>
              <a:t>To check for duplicates in Shipments ID 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- SELECT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Shipment_ID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, COUNT(*) AS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cnt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FROM Shipments GROUP BY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Shipment_ID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HAVING COUNT(*) &gt; 1;</a:t>
            </a:r>
            <a:endParaRPr lang="en-IN" sz="18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B7B226-5968-C297-62D2-D7D5A65A2F8C}"/>
              </a:ext>
            </a:extLst>
          </p:cNvPr>
          <p:cNvSpPr txBox="1"/>
          <p:nvPr/>
        </p:nvSpPr>
        <p:spPr>
          <a:xfrm>
            <a:off x="662233" y="357872"/>
            <a:ext cx="102728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latin typeface="Gadugi" panose="020B0502040204020203" pitchFamily="34" charset="0"/>
                <a:ea typeface="Gadugi" panose="020B0502040204020203" pitchFamily="34" charset="0"/>
              </a:rPr>
              <a:t>Task 1.5 : Validate referential integrity between Orders, Routes, Warehouses, and Shipments. </a:t>
            </a:r>
            <a:endParaRPr lang="en-IN" b="1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8B97613-24EB-B275-602C-A0AC71AC70FD}"/>
              </a:ext>
            </a:extLst>
          </p:cNvPr>
          <p:cNvSpPr txBox="1">
            <a:spLocks/>
          </p:cNvSpPr>
          <p:nvPr/>
        </p:nvSpPr>
        <p:spPr>
          <a:xfrm>
            <a:off x="838200" y="4073918"/>
            <a:ext cx="10515600" cy="16292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latin typeface="Gadugi" panose="020B0502040204020203" pitchFamily="34" charset="0"/>
                <a:ea typeface="Gadugi" panose="020B0502040204020203" pitchFamily="34" charset="0"/>
              </a:rPr>
              <a:t>Orders Integrity 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– no null records found </a:t>
            </a:r>
          </a:p>
          <a:p>
            <a:r>
              <a:rPr lang="en-US" sz="1800" b="1" dirty="0">
                <a:latin typeface="Gadugi" panose="020B0502040204020203" pitchFamily="34" charset="0"/>
                <a:ea typeface="Gadugi" panose="020B0502040204020203" pitchFamily="34" charset="0"/>
              </a:rPr>
              <a:t>Routes Integrity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– no null records found </a:t>
            </a:r>
          </a:p>
          <a:p>
            <a:r>
              <a:rPr lang="en-US" sz="1800" b="1" dirty="0">
                <a:latin typeface="Gadugi" panose="020B0502040204020203" pitchFamily="34" charset="0"/>
                <a:ea typeface="Gadugi" panose="020B0502040204020203" pitchFamily="34" charset="0"/>
              </a:rPr>
              <a:t> Warehouse Integrity 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– no null records found </a:t>
            </a:r>
          </a:p>
          <a:p>
            <a:r>
              <a:rPr lang="en-US" sz="1800" b="1" dirty="0">
                <a:latin typeface="Gadugi" panose="020B0502040204020203" pitchFamily="34" charset="0"/>
                <a:ea typeface="Gadugi" panose="020B0502040204020203" pitchFamily="34" charset="0"/>
              </a:rPr>
              <a:t>To check for duplicates in Shipments ID- 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No duplicate values found as the count of Distinct records, i.e. 1000 rows, is equal to all records, i.e. 1000 rows.</a:t>
            </a:r>
            <a:endParaRPr lang="en-IN" sz="18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4073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10EE2-7D07-796F-C27C-2844E1426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Task 2: Delivery Delay Analysis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DB8EE-B689-89D5-B9D6-BDFE18201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310" y="1690688"/>
            <a:ext cx="5336357" cy="24164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Gadugi" panose="020B0502040204020203" pitchFamily="34" charset="0"/>
                <a:ea typeface="Gadugi" panose="020B0502040204020203" pitchFamily="34" charset="0"/>
              </a:rPr>
              <a:t>Task 2.1 : Calculate delivery delay (in hours) for each shipment using </a:t>
            </a:r>
            <a:r>
              <a:rPr lang="en-US" sz="2000" b="1" dirty="0" err="1">
                <a:latin typeface="Gadugi" panose="020B0502040204020203" pitchFamily="34" charset="0"/>
                <a:ea typeface="Gadugi" panose="020B0502040204020203" pitchFamily="34" charset="0"/>
              </a:rPr>
              <a:t>Delivery_Date</a:t>
            </a:r>
            <a:r>
              <a:rPr lang="en-US" sz="2000" b="1" dirty="0">
                <a:latin typeface="Gadugi" panose="020B0502040204020203" pitchFamily="34" charset="0"/>
                <a:ea typeface="Gadugi" panose="020B0502040204020203" pitchFamily="34" charset="0"/>
              </a:rPr>
              <a:t> – </a:t>
            </a:r>
            <a:r>
              <a:rPr lang="en-US" sz="2000" b="1" dirty="0" err="1">
                <a:latin typeface="Gadugi" panose="020B0502040204020203" pitchFamily="34" charset="0"/>
                <a:ea typeface="Gadugi" panose="020B0502040204020203" pitchFamily="34" charset="0"/>
              </a:rPr>
              <a:t>Pickup_Date</a:t>
            </a:r>
            <a:r>
              <a:rPr lang="en-US" sz="2000" b="1" dirty="0">
                <a:latin typeface="Gadugi" panose="020B0502040204020203" pitchFamily="34" charset="0"/>
                <a:ea typeface="Gadugi" panose="020B0502040204020203" pitchFamily="34" charset="0"/>
              </a:rPr>
              <a:t>. </a:t>
            </a:r>
          </a:p>
          <a:p>
            <a:pPr lvl="1"/>
            <a:r>
              <a:rPr lang="en-US" sz="2000" dirty="0">
                <a:latin typeface="Gadugi" panose="020B0502040204020203" pitchFamily="34" charset="0"/>
                <a:ea typeface="Gadugi" panose="020B0502040204020203" pitchFamily="34" charset="0"/>
              </a:rPr>
              <a:t>SELECT </a:t>
            </a:r>
            <a:r>
              <a:rPr lang="en-US" sz="2000" dirty="0" err="1">
                <a:latin typeface="Gadugi" panose="020B0502040204020203" pitchFamily="34" charset="0"/>
                <a:ea typeface="Gadugi" panose="020B0502040204020203" pitchFamily="34" charset="0"/>
              </a:rPr>
              <a:t>Shipment_ID</a:t>
            </a:r>
            <a:r>
              <a:rPr lang="en-US" sz="2000" dirty="0">
                <a:latin typeface="Gadugi" panose="020B0502040204020203" pitchFamily="34" charset="0"/>
                <a:ea typeface="Gadugi" panose="020B0502040204020203" pitchFamily="34" charset="0"/>
              </a:rPr>
              <a:t>, </a:t>
            </a:r>
            <a:r>
              <a:rPr lang="en-US" sz="2000" dirty="0" err="1">
                <a:latin typeface="Gadugi" panose="020B0502040204020203" pitchFamily="34" charset="0"/>
                <a:ea typeface="Gadugi" panose="020B0502040204020203" pitchFamily="34" charset="0"/>
              </a:rPr>
              <a:t>Pickup_Date</a:t>
            </a:r>
            <a:r>
              <a:rPr lang="en-US" sz="2000" dirty="0">
                <a:latin typeface="Gadugi" panose="020B0502040204020203" pitchFamily="34" charset="0"/>
                <a:ea typeface="Gadugi" panose="020B0502040204020203" pitchFamily="34" charset="0"/>
              </a:rPr>
              <a:t>, </a:t>
            </a:r>
            <a:r>
              <a:rPr lang="en-US" sz="2000" dirty="0" err="1">
                <a:latin typeface="Gadugi" panose="020B0502040204020203" pitchFamily="34" charset="0"/>
                <a:ea typeface="Gadugi" panose="020B0502040204020203" pitchFamily="34" charset="0"/>
              </a:rPr>
              <a:t>Delivery_Date</a:t>
            </a:r>
            <a:r>
              <a:rPr lang="en-US" sz="2000" dirty="0">
                <a:latin typeface="Gadugi" panose="020B0502040204020203" pitchFamily="34" charset="0"/>
                <a:ea typeface="Gadugi" panose="020B0502040204020203" pitchFamily="34" charset="0"/>
              </a:rPr>
              <a:t>, TIMESTAMPDIFF(HOUR, </a:t>
            </a:r>
            <a:r>
              <a:rPr lang="en-US" sz="2000" dirty="0" err="1">
                <a:latin typeface="Gadugi" panose="020B0502040204020203" pitchFamily="34" charset="0"/>
                <a:ea typeface="Gadugi" panose="020B0502040204020203" pitchFamily="34" charset="0"/>
              </a:rPr>
              <a:t>Pickup_Date</a:t>
            </a:r>
            <a:r>
              <a:rPr lang="en-US" sz="2000" dirty="0">
                <a:latin typeface="Gadugi" panose="020B0502040204020203" pitchFamily="34" charset="0"/>
                <a:ea typeface="Gadugi" panose="020B0502040204020203" pitchFamily="34" charset="0"/>
              </a:rPr>
              <a:t>, </a:t>
            </a:r>
            <a:r>
              <a:rPr lang="en-US" sz="2000" dirty="0" err="1">
                <a:latin typeface="Gadugi" panose="020B0502040204020203" pitchFamily="34" charset="0"/>
                <a:ea typeface="Gadugi" panose="020B0502040204020203" pitchFamily="34" charset="0"/>
              </a:rPr>
              <a:t>Delivery_Date</a:t>
            </a:r>
            <a:r>
              <a:rPr lang="en-US" sz="2000" dirty="0">
                <a:latin typeface="Gadugi" panose="020B0502040204020203" pitchFamily="34" charset="0"/>
                <a:ea typeface="Gadugi" panose="020B0502040204020203" pitchFamily="34" charset="0"/>
              </a:rPr>
              <a:t>) AS </a:t>
            </a:r>
            <a:r>
              <a:rPr lang="en-US" sz="2000" dirty="0" err="1">
                <a:latin typeface="Gadugi" panose="020B0502040204020203" pitchFamily="34" charset="0"/>
                <a:ea typeface="Gadugi" panose="020B0502040204020203" pitchFamily="34" charset="0"/>
              </a:rPr>
              <a:t>Delivery_Delay_in_Hours</a:t>
            </a:r>
            <a:r>
              <a:rPr lang="en-US" sz="2000" dirty="0">
                <a:latin typeface="Gadugi" panose="020B0502040204020203" pitchFamily="34" charset="0"/>
                <a:ea typeface="Gadugi" panose="020B0502040204020203" pitchFamily="34" charset="0"/>
              </a:rPr>
              <a:t> FROM Shipments;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E967F1-143E-D169-78C1-69177437FF87}"/>
              </a:ext>
            </a:extLst>
          </p:cNvPr>
          <p:cNvSpPr txBox="1"/>
          <p:nvPr/>
        </p:nvSpPr>
        <p:spPr>
          <a:xfrm>
            <a:off x="150437" y="4304873"/>
            <a:ext cx="60944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Gadugi" panose="020B0502040204020203" pitchFamily="34" charset="0"/>
                <a:ea typeface="Gadugi" panose="020B0502040204020203" pitchFamily="34" charset="0"/>
              </a:rPr>
              <a:t>Task 2.2 :Find the Top 10 delayed routes based on average delay hours. </a:t>
            </a:r>
          </a:p>
          <a:p>
            <a:pPr lvl="1"/>
            <a:r>
              <a:rPr lang="en-US" sz="2000" dirty="0">
                <a:latin typeface="Gadugi" panose="020B0502040204020203" pitchFamily="34" charset="0"/>
                <a:ea typeface="Gadugi" panose="020B0502040204020203" pitchFamily="34" charset="0"/>
              </a:rPr>
              <a:t>select </a:t>
            </a:r>
            <a:r>
              <a:rPr lang="en-US" sz="2000" dirty="0" err="1">
                <a:latin typeface="Gadugi" panose="020B0502040204020203" pitchFamily="34" charset="0"/>
                <a:ea typeface="Gadugi" panose="020B0502040204020203" pitchFamily="34" charset="0"/>
              </a:rPr>
              <a:t>Route_ID</a:t>
            </a:r>
            <a:r>
              <a:rPr lang="en-US" sz="2000" dirty="0">
                <a:latin typeface="Gadugi" panose="020B0502040204020203" pitchFamily="34" charset="0"/>
                <a:ea typeface="Gadugi" panose="020B0502040204020203" pitchFamily="34" charset="0"/>
              </a:rPr>
              <a:t> as </a:t>
            </a:r>
            <a:r>
              <a:rPr lang="en-US" sz="2000" dirty="0" err="1">
                <a:latin typeface="Gadugi" panose="020B0502040204020203" pitchFamily="34" charset="0"/>
                <a:ea typeface="Gadugi" panose="020B0502040204020203" pitchFamily="34" charset="0"/>
              </a:rPr>
              <a:t>delayed_routes</a:t>
            </a:r>
            <a:r>
              <a:rPr lang="en-US" sz="2000" dirty="0">
                <a:latin typeface="Gadugi" panose="020B0502040204020203" pitchFamily="34" charset="0"/>
                <a:ea typeface="Gadugi" panose="020B0502040204020203" pitchFamily="34" charset="0"/>
              </a:rPr>
              <a:t>, round(Avg(</a:t>
            </a:r>
            <a:r>
              <a:rPr lang="en-US" sz="2000" dirty="0" err="1">
                <a:latin typeface="Gadugi" panose="020B0502040204020203" pitchFamily="34" charset="0"/>
                <a:ea typeface="Gadugi" panose="020B0502040204020203" pitchFamily="34" charset="0"/>
              </a:rPr>
              <a:t>Delay_Hours</a:t>
            </a:r>
            <a:r>
              <a:rPr lang="en-US" sz="2000" dirty="0">
                <a:latin typeface="Gadugi" panose="020B0502040204020203" pitchFamily="34" charset="0"/>
                <a:ea typeface="Gadugi" panose="020B0502040204020203" pitchFamily="34" charset="0"/>
              </a:rPr>
              <a:t>),2) as </a:t>
            </a:r>
            <a:r>
              <a:rPr lang="en-US" sz="2000" dirty="0" err="1">
                <a:latin typeface="Gadugi" panose="020B0502040204020203" pitchFamily="34" charset="0"/>
                <a:ea typeface="Gadugi" panose="020B0502040204020203" pitchFamily="34" charset="0"/>
              </a:rPr>
              <a:t>Avg_Delay_Hours</a:t>
            </a:r>
            <a:r>
              <a:rPr lang="en-US" sz="2000" dirty="0">
                <a:latin typeface="Gadugi" panose="020B0502040204020203" pitchFamily="34" charset="0"/>
                <a:ea typeface="Gadugi" panose="020B0502040204020203" pitchFamily="34" charset="0"/>
              </a:rPr>
              <a:t> from Shipments group by </a:t>
            </a:r>
            <a:r>
              <a:rPr lang="en-US" sz="2000" dirty="0" err="1">
                <a:latin typeface="Gadugi" panose="020B0502040204020203" pitchFamily="34" charset="0"/>
                <a:ea typeface="Gadugi" panose="020B0502040204020203" pitchFamily="34" charset="0"/>
              </a:rPr>
              <a:t>Route_ID</a:t>
            </a:r>
            <a:r>
              <a:rPr lang="en-US" sz="2000" dirty="0">
                <a:latin typeface="Gadugi" panose="020B0502040204020203" pitchFamily="34" charset="0"/>
                <a:ea typeface="Gadugi" panose="020B0502040204020203" pitchFamily="34" charset="0"/>
              </a:rPr>
              <a:t> order by </a:t>
            </a:r>
            <a:r>
              <a:rPr lang="en-US" sz="2000" dirty="0" err="1">
                <a:latin typeface="Gadugi" panose="020B0502040204020203" pitchFamily="34" charset="0"/>
                <a:ea typeface="Gadugi" panose="020B0502040204020203" pitchFamily="34" charset="0"/>
              </a:rPr>
              <a:t>Route_ID</a:t>
            </a:r>
            <a:r>
              <a:rPr lang="en-US" sz="2000" dirty="0">
                <a:latin typeface="Gadugi" panose="020B0502040204020203" pitchFamily="34" charset="0"/>
                <a:ea typeface="Gadugi" panose="020B0502040204020203" pitchFamily="34" charset="0"/>
              </a:rPr>
              <a:t> desc limit 10;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9D1E6663-4D48-A460-63D9-52682CB66A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392742"/>
              </p:ext>
            </p:extLst>
          </p:nvPr>
        </p:nvGraphicFramePr>
        <p:xfrm>
          <a:off x="6409441" y="1995309"/>
          <a:ext cx="5149392" cy="33496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07453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0919DF4-6DE6-87EE-2950-8C0202A398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7088559"/>
              </p:ext>
            </p:extLst>
          </p:nvPr>
        </p:nvGraphicFramePr>
        <p:xfrm>
          <a:off x="6732310" y="232497"/>
          <a:ext cx="5229519" cy="31083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5FF9F36-DF1E-0759-58BE-3203CF822D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9839321"/>
              </p:ext>
            </p:extLst>
          </p:nvPr>
        </p:nvGraphicFramePr>
        <p:xfrm>
          <a:off x="6732310" y="3517112"/>
          <a:ext cx="5229519" cy="32419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A0C4C55-3890-7A04-44EC-6227E274E2EF}"/>
              </a:ext>
            </a:extLst>
          </p:cNvPr>
          <p:cNvSpPr txBox="1"/>
          <p:nvPr/>
        </p:nvSpPr>
        <p:spPr>
          <a:xfrm>
            <a:off x="385714" y="4031224"/>
            <a:ext cx="60944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Gadugi" panose="020B0502040204020203" pitchFamily="34" charset="0"/>
                <a:ea typeface="Gadugi" panose="020B0502040204020203" pitchFamily="34" charset="0"/>
              </a:rPr>
              <a:t>Task 2.4 :Identify the average delay per </a:t>
            </a:r>
            <a:r>
              <a:rPr lang="en-US" b="1" dirty="0" err="1">
                <a:latin typeface="Gadugi" panose="020B0502040204020203" pitchFamily="34" charset="0"/>
                <a:ea typeface="Gadugi" panose="020B0502040204020203" pitchFamily="34" charset="0"/>
              </a:rPr>
              <a:t>Delivery_Type</a:t>
            </a:r>
            <a:r>
              <a:rPr lang="en-US" b="1" dirty="0">
                <a:latin typeface="Gadugi" panose="020B0502040204020203" pitchFamily="34" charset="0"/>
                <a:ea typeface="Gadugi" panose="020B0502040204020203" pitchFamily="34" charset="0"/>
              </a:rPr>
              <a:t> (Express / Standard) to compare service-level efficiency.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select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o.Delivery_Type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,  round(Avg(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s.Delay_Hours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),2) as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Type_Avg_Delay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 from Shipments s Inner join orders o on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s.Order_ID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 =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o.Order_ID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 group by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o.Delivery_Type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;</a:t>
            </a:r>
            <a:endParaRPr lang="en-IN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192565-C0BA-0663-EB60-3E9C0B0EE5C4}"/>
              </a:ext>
            </a:extLst>
          </p:cNvPr>
          <p:cNvSpPr txBox="1"/>
          <p:nvPr/>
        </p:nvSpPr>
        <p:spPr>
          <a:xfrm>
            <a:off x="385714" y="571661"/>
            <a:ext cx="60944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Gadugi" panose="020B0502040204020203" pitchFamily="34" charset="0"/>
                <a:ea typeface="Gadugi" panose="020B0502040204020203" pitchFamily="34" charset="0"/>
              </a:rPr>
              <a:t>Task 2.3 :Use SQL window functions to rank shipments by delay within each </a:t>
            </a:r>
            <a:r>
              <a:rPr lang="en-US" b="1" dirty="0" err="1">
                <a:latin typeface="Gadugi" panose="020B0502040204020203" pitchFamily="34" charset="0"/>
                <a:ea typeface="Gadugi" panose="020B0502040204020203" pitchFamily="34" charset="0"/>
              </a:rPr>
              <a:t>Warehouse_ID</a:t>
            </a:r>
            <a:r>
              <a:rPr lang="en-US" b="1" dirty="0">
                <a:latin typeface="Gadugi" panose="020B0502040204020203" pitchFamily="34" charset="0"/>
                <a:ea typeface="Gadugi" panose="020B0502040204020203" pitchFamily="34" charset="0"/>
              </a:rPr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select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Warehouse_ID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,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Shipment_ID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,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Delay_Hours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, Rank() over (partition by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Warehouse_ID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 order by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Delay_Hours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 desc) as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Shipment_Rank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 from Shipments;</a:t>
            </a:r>
          </a:p>
        </p:txBody>
      </p:sp>
    </p:spTree>
    <p:extLst>
      <p:ext uri="{BB962C8B-B14F-4D97-AF65-F5344CB8AC3E}">
        <p14:creationId xmlns:p14="http://schemas.microsoft.com/office/powerpoint/2010/main" val="2443600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0FC2F-4761-1872-8A7D-27C1464AC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696" y="365125"/>
            <a:ext cx="11065104" cy="1325563"/>
          </a:xfrm>
        </p:spPr>
        <p:txBody>
          <a:bodyPr>
            <a:norm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Task 3: Route Optimization Insights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CC84F9-BF00-7062-7304-80419C9E16F3}"/>
              </a:ext>
            </a:extLst>
          </p:cNvPr>
          <p:cNvSpPr txBox="1"/>
          <p:nvPr/>
        </p:nvSpPr>
        <p:spPr>
          <a:xfrm>
            <a:off x="288696" y="3041330"/>
            <a:ext cx="6094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Gadugi" panose="020B0502040204020203" pitchFamily="34" charset="0"/>
                <a:ea typeface="Gadugi" panose="020B0502040204020203" pitchFamily="34" charset="0"/>
              </a:rPr>
              <a:t>Task 3.2: Average delay (in hours) per route.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select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Route_ID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, round(avg(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Delay_Hours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),2) as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Average_Delay_Hours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 from Shipments group by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Route_ID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 order by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Route_ID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62C46C-B91E-525F-9942-C4C6C88CD901}"/>
              </a:ext>
            </a:extLst>
          </p:cNvPr>
          <p:cNvSpPr txBox="1"/>
          <p:nvPr/>
        </p:nvSpPr>
        <p:spPr>
          <a:xfrm>
            <a:off x="288696" y="1690688"/>
            <a:ext cx="114759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latin typeface="Gadugi" panose="020B0502040204020203" pitchFamily="34" charset="0"/>
                <a:ea typeface="Gadugi" panose="020B0502040204020203" pitchFamily="34" charset="0"/>
              </a:rPr>
              <a:t>Task 3.1: Average transit time (in hours) across all shipments.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select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s.Shipment_ID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,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r.Route_ID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,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r.Avg_Transit_Time_Hours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 from Shipments s Right join Routes r on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s.Route_ID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 =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r.Route_ID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 order by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s.Shipment_ID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; 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C03CE79-9C3F-CAC7-31FD-0C0581CFC0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541481"/>
              </p:ext>
            </p:extLst>
          </p:nvPr>
        </p:nvGraphicFramePr>
        <p:xfrm>
          <a:off x="6096000" y="2507926"/>
          <a:ext cx="2780908" cy="4260921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937939">
                  <a:extLst>
                    <a:ext uri="{9D8B030D-6E8A-4147-A177-3AD203B41FA5}">
                      <a16:colId xmlns:a16="http://schemas.microsoft.com/office/drawing/2014/main" val="4173527309"/>
                    </a:ext>
                  </a:extLst>
                </a:gridCol>
                <a:gridCol w="1842969">
                  <a:extLst>
                    <a:ext uri="{9D8B030D-6E8A-4147-A177-3AD203B41FA5}">
                      <a16:colId xmlns:a16="http://schemas.microsoft.com/office/drawing/2014/main" val="1028331824"/>
                    </a:ext>
                  </a:extLst>
                </a:gridCol>
              </a:tblGrid>
              <a:tr h="2029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Arial Black" panose="020B0A04020102020204" pitchFamily="34" charset="0"/>
                        </a:rPr>
                        <a:t>Route ID</a:t>
                      </a:r>
                      <a:endParaRPr lang="en-IN" sz="1200" b="1" i="0" u="none" strike="noStrike" dirty="0">
                        <a:solidFill>
                          <a:srgbClr val="FFFFF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Arial Black" panose="020B0A04020102020204" pitchFamily="34" charset="0"/>
                        </a:rPr>
                        <a:t>Average Delay Hours</a:t>
                      </a:r>
                      <a:endParaRPr lang="en-IN" sz="1200" b="1" i="0" u="none" strike="noStrike" dirty="0">
                        <a:solidFill>
                          <a:srgbClr val="FFFFFF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9330117"/>
                  </a:ext>
                </a:extLst>
              </a:tr>
              <a:tr h="2029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R001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6.83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8522616"/>
                  </a:ext>
                </a:extLst>
              </a:tr>
              <a:tr h="2029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R002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41.04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4488051"/>
                  </a:ext>
                </a:extLst>
              </a:tr>
              <a:tr h="2029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R003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32.18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2444853"/>
                  </a:ext>
                </a:extLst>
              </a:tr>
              <a:tr h="2029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R004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25.88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2705849"/>
                  </a:ext>
                </a:extLst>
              </a:tr>
              <a:tr h="2029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R005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29.86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5652666"/>
                  </a:ext>
                </a:extLst>
              </a:tr>
              <a:tr h="2029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R006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14.01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5568072"/>
                  </a:ext>
                </a:extLst>
              </a:tr>
              <a:tr h="2029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R007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34.01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4193406"/>
                  </a:ext>
                </a:extLst>
              </a:tr>
              <a:tr h="2029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R008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30.81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7700552"/>
                  </a:ext>
                </a:extLst>
              </a:tr>
              <a:tr h="2029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R009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9.72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3262927"/>
                  </a:ext>
                </a:extLst>
              </a:tr>
              <a:tr h="2029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R010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20.25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4356635"/>
                  </a:ext>
                </a:extLst>
              </a:tr>
              <a:tr h="2029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R011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22.64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2242184"/>
                  </a:ext>
                </a:extLst>
              </a:tr>
              <a:tr h="2029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R012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13.89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2258191"/>
                  </a:ext>
                </a:extLst>
              </a:tr>
              <a:tr h="2029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R013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11.95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6159430"/>
                  </a:ext>
                </a:extLst>
              </a:tr>
              <a:tr h="2029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R014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20.97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0225476"/>
                  </a:ext>
                </a:extLst>
              </a:tr>
              <a:tr h="2029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R015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15.19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7565815"/>
                  </a:ext>
                </a:extLst>
              </a:tr>
              <a:tr h="2029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R016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14.89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2755769"/>
                  </a:ext>
                </a:extLst>
              </a:tr>
              <a:tr h="2029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R017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19.27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996625"/>
                  </a:ext>
                </a:extLst>
              </a:tr>
              <a:tr h="2029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R018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25.83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3956766"/>
                  </a:ext>
                </a:extLst>
              </a:tr>
              <a:tr h="2029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R019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13.91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1539463"/>
                  </a:ext>
                </a:extLst>
              </a:tr>
              <a:tr h="2029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R020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32.8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464313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54F2AE2-DA64-3EEF-799F-A112C783AD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6646283"/>
              </p:ext>
            </p:extLst>
          </p:nvPr>
        </p:nvGraphicFramePr>
        <p:xfrm>
          <a:off x="8965152" y="2507925"/>
          <a:ext cx="3138863" cy="4260921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843940">
                  <a:extLst>
                    <a:ext uri="{9D8B030D-6E8A-4147-A177-3AD203B41FA5}">
                      <a16:colId xmlns:a16="http://schemas.microsoft.com/office/drawing/2014/main" val="1337203178"/>
                    </a:ext>
                  </a:extLst>
                </a:gridCol>
                <a:gridCol w="2294923">
                  <a:extLst>
                    <a:ext uri="{9D8B030D-6E8A-4147-A177-3AD203B41FA5}">
                      <a16:colId xmlns:a16="http://schemas.microsoft.com/office/drawing/2014/main" val="2884284568"/>
                    </a:ext>
                  </a:extLst>
                </a:gridCol>
              </a:tblGrid>
              <a:tr h="2029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Route ID</a:t>
                      </a:r>
                      <a:endParaRPr lang="en-IN" sz="1200" b="1" i="0" u="none" strike="noStrike" dirty="0">
                        <a:solidFill>
                          <a:srgbClr val="FFFFFF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Distance Time Efficiency</a:t>
                      </a:r>
                      <a:endParaRPr lang="en-IN" sz="1200" b="1" i="0" u="none" strike="noStrike" dirty="0">
                        <a:solidFill>
                          <a:srgbClr val="FFFFFF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8971732"/>
                  </a:ext>
                </a:extLst>
              </a:tr>
              <a:tr h="2029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R001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143.93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249089"/>
                  </a:ext>
                </a:extLst>
              </a:tr>
              <a:tr h="2029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R002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392.65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0024522"/>
                  </a:ext>
                </a:extLst>
              </a:tr>
              <a:tr h="2029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R003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37.66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7724300"/>
                  </a:ext>
                </a:extLst>
              </a:tr>
              <a:tr h="2029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R004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174.24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9885561"/>
                  </a:ext>
                </a:extLst>
              </a:tr>
              <a:tr h="2029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R005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430.17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7525221"/>
                  </a:ext>
                </a:extLst>
              </a:tr>
              <a:tr h="2029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R006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101.46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1214138"/>
                  </a:ext>
                </a:extLst>
              </a:tr>
              <a:tr h="2029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R007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173.67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231506"/>
                  </a:ext>
                </a:extLst>
              </a:tr>
              <a:tr h="2029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R008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107.95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0549449"/>
                  </a:ext>
                </a:extLst>
              </a:tr>
              <a:tr h="2029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R009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360.13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396745"/>
                  </a:ext>
                </a:extLst>
              </a:tr>
              <a:tr h="2029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R010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540.34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6875371"/>
                  </a:ext>
                </a:extLst>
              </a:tr>
              <a:tr h="2029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R011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475.42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8240583"/>
                  </a:ext>
                </a:extLst>
              </a:tr>
              <a:tr h="2029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R012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269.43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2295974"/>
                  </a:ext>
                </a:extLst>
              </a:tr>
              <a:tr h="2029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R013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121.21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9886393"/>
                  </a:ext>
                </a:extLst>
              </a:tr>
              <a:tr h="2029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R014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197.58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9241180"/>
                  </a:ext>
                </a:extLst>
              </a:tr>
              <a:tr h="2029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R015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52.7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0425747"/>
                  </a:ext>
                </a:extLst>
              </a:tr>
              <a:tr h="2029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R016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256.99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0458405"/>
                  </a:ext>
                </a:extLst>
              </a:tr>
              <a:tr h="2029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R017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147.47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1549291"/>
                  </a:ext>
                </a:extLst>
              </a:tr>
              <a:tr h="2029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R018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217.37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1585244"/>
                  </a:ext>
                </a:extLst>
              </a:tr>
              <a:tr h="2029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R019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545.49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067126"/>
                  </a:ext>
                </a:extLst>
              </a:tr>
              <a:tr h="2029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R020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146.1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115976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71630D0-A2A0-034F-1375-819381736024}"/>
              </a:ext>
            </a:extLst>
          </p:cNvPr>
          <p:cNvSpPr txBox="1"/>
          <p:nvPr/>
        </p:nvSpPr>
        <p:spPr>
          <a:xfrm>
            <a:off x="288696" y="4766588"/>
            <a:ext cx="560305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latin typeface="Gadugi" panose="020B0502040204020203" pitchFamily="34" charset="0"/>
                <a:ea typeface="Gadugi" panose="020B0502040204020203" pitchFamily="34" charset="0"/>
              </a:rPr>
              <a:t>Task 3.3 :Distance-to-time efficiency ratio = </a:t>
            </a:r>
            <a:r>
              <a:rPr lang="en-US" b="1" dirty="0" err="1">
                <a:latin typeface="Gadugi" panose="020B0502040204020203" pitchFamily="34" charset="0"/>
                <a:ea typeface="Gadugi" panose="020B0502040204020203" pitchFamily="34" charset="0"/>
              </a:rPr>
              <a:t>Distance_KM</a:t>
            </a:r>
            <a:r>
              <a:rPr lang="en-US" b="1" dirty="0">
                <a:latin typeface="Gadugi" panose="020B0502040204020203" pitchFamily="34" charset="0"/>
                <a:ea typeface="Gadugi" panose="020B0502040204020203" pitchFamily="34" charset="0"/>
              </a:rPr>
              <a:t> /</a:t>
            </a:r>
            <a:r>
              <a:rPr lang="en-US" b="1" dirty="0" err="1">
                <a:latin typeface="Gadugi" panose="020B0502040204020203" pitchFamily="34" charset="0"/>
                <a:ea typeface="Gadugi" panose="020B0502040204020203" pitchFamily="34" charset="0"/>
              </a:rPr>
              <a:t>Avg_Transit_Time_Hours</a:t>
            </a:r>
            <a:r>
              <a:rPr lang="en-US" b="1" dirty="0">
                <a:latin typeface="Gadugi" panose="020B0502040204020203" pitchFamily="34" charset="0"/>
                <a:ea typeface="Gadugi" panose="020B0502040204020203" pitchFamily="34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select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Route_ID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, round((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Distance_KM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/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Avg_Transit_Time_Hours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),2) as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Distance_Time_Efficiency_ratio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 from Routes; </a:t>
            </a:r>
          </a:p>
        </p:txBody>
      </p:sp>
    </p:spTree>
    <p:extLst>
      <p:ext uri="{BB962C8B-B14F-4D97-AF65-F5344CB8AC3E}">
        <p14:creationId xmlns:p14="http://schemas.microsoft.com/office/powerpoint/2010/main" val="4255036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99F82AD-07D5-4AD2-2D13-62F660A17560}"/>
              </a:ext>
            </a:extLst>
          </p:cNvPr>
          <p:cNvSpPr txBox="1"/>
          <p:nvPr/>
        </p:nvSpPr>
        <p:spPr>
          <a:xfrm>
            <a:off x="266308" y="272906"/>
            <a:ext cx="60944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latin typeface="Gadugi" panose="020B0502040204020203" pitchFamily="34" charset="0"/>
                <a:ea typeface="Gadugi" panose="020B0502040204020203" pitchFamily="34" charset="0"/>
              </a:rPr>
              <a:t>Task 3.4 : Identify 3 routes with the worst efficiency ratio (lowest distance-to-time).</a:t>
            </a:r>
          </a:p>
          <a:p>
            <a:pPr lvl="1"/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select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Route_ID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, round((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Distance_KM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/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Avg_Transit_Time_Hours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),2) as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Distance_Time_Efficiency_ratio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 from Routes order by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Distance_Time_Efficiency_ratio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asc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 limit 3;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A68330-0806-DB8A-8C2F-53C827282114}"/>
              </a:ext>
            </a:extLst>
          </p:cNvPr>
          <p:cNvSpPr txBox="1"/>
          <p:nvPr/>
        </p:nvSpPr>
        <p:spPr>
          <a:xfrm>
            <a:off x="266308" y="2274838"/>
            <a:ext cx="60944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latin typeface="Gadugi" panose="020B0502040204020203" pitchFamily="34" charset="0"/>
                <a:ea typeface="Gadugi" panose="020B0502040204020203" pitchFamily="34" charset="0"/>
              </a:rPr>
              <a:t>Task 3.5 : Find routes with &gt;20% of shipments delayed beyond expected transit time. </a:t>
            </a:r>
          </a:p>
          <a:p>
            <a:pPr lvl="1"/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select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Route_ID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, round(100.0* sum(case when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Delay_Hours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 &gt; 0 then 1 else 0 end) / count(*), 2 ) as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delayed_percentage,Count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(*) as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Total_Shipments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 from Shipments group by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Route_ID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 having 100.0* sum(case when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Delay_Hours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 &gt; 0 then 1 else 0 end) / count(*) &gt; 20 order by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Route_ID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Asc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;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6B2FB500-A324-5F6D-46AD-877F8C1FD8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6076548"/>
              </p:ext>
            </p:extLst>
          </p:nvPr>
        </p:nvGraphicFramePr>
        <p:xfrm>
          <a:off x="6532226" y="93797"/>
          <a:ext cx="4534842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50D45DD-1F0B-BEEE-8873-260F1F113FAB}"/>
              </a:ext>
            </a:extLst>
          </p:cNvPr>
          <p:cNvSpPr txBox="1"/>
          <p:nvPr/>
        </p:nvSpPr>
        <p:spPr>
          <a:xfrm>
            <a:off x="266308" y="4749902"/>
            <a:ext cx="6094428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“All routes exceed the 20% delay threshold, indicating a systemic delay issue across the network. This suggests either operational inefficiencies, strict delay definitions, or data representing a high-risk logistics period.”</a:t>
            </a:r>
            <a:endParaRPr lang="en-IN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6B4F227-0F5B-95DE-02C5-CF98D8A4B1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8589930"/>
              </p:ext>
            </p:extLst>
          </p:nvPr>
        </p:nvGraphicFramePr>
        <p:xfrm>
          <a:off x="6761506" y="2810612"/>
          <a:ext cx="4635500" cy="3878580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1056894">
                  <a:extLst>
                    <a:ext uri="{9D8B030D-6E8A-4147-A177-3AD203B41FA5}">
                      <a16:colId xmlns:a16="http://schemas.microsoft.com/office/drawing/2014/main" val="3678385302"/>
                    </a:ext>
                  </a:extLst>
                </a:gridCol>
                <a:gridCol w="1928368">
                  <a:extLst>
                    <a:ext uri="{9D8B030D-6E8A-4147-A177-3AD203B41FA5}">
                      <a16:colId xmlns:a16="http://schemas.microsoft.com/office/drawing/2014/main" val="2164746527"/>
                    </a:ext>
                  </a:extLst>
                </a:gridCol>
                <a:gridCol w="1650238">
                  <a:extLst>
                    <a:ext uri="{9D8B030D-6E8A-4147-A177-3AD203B41FA5}">
                      <a16:colId xmlns:a16="http://schemas.microsoft.com/office/drawing/2014/main" val="2282510004"/>
                    </a:ext>
                  </a:extLst>
                </a:gridCol>
              </a:tblGrid>
              <a:tr h="739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Route ID</a:t>
                      </a:r>
                      <a:endParaRPr lang="en-IN" sz="1400" b="1" i="0" u="none" strike="noStrike" dirty="0">
                        <a:solidFill>
                          <a:srgbClr val="FFFFFF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Delayed Percentage</a:t>
                      </a:r>
                      <a:endParaRPr lang="en-IN" sz="1400" b="1" i="0" u="none" strike="noStrike" dirty="0">
                        <a:solidFill>
                          <a:srgbClr val="FFFFFF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Total Shipments</a:t>
                      </a:r>
                      <a:endParaRPr lang="en-IN" sz="1400" b="1" i="0" u="none" strike="noStrike" dirty="0">
                        <a:solidFill>
                          <a:srgbClr val="FFFFFF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691294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R001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88.64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44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49906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R002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93.62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47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674839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R003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97.06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34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650699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R004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97.96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49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716558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R005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97.92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48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21969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R006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92.86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56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207311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R007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96.08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51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05165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R008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90.91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44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910089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R009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100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38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02071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R010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98.08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52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0563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R011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91.67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48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09342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R012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98.21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56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41109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R013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92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50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436691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R014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92.45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53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941696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R015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82.14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56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083046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R016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88.73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71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55918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R017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90.57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53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842129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R018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94.92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59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4952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R019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91.84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49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59369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R020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92.86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42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7449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5238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CB58A3A-70BF-F5A6-F8CF-231762735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688" y="948932"/>
            <a:ext cx="10515600" cy="889295"/>
          </a:xfr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latin typeface="Gadugi" panose="020B0502040204020203" pitchFamily="34" charset="0"/>
                <a:ea typeface="Gadugi" panose="020B0502040204020203" pitchFamily="34" charset="0"/>
              </a:rPr>
              <a:t>Task 3.6: Recommend potential routes or hub pairs for optimization.</a:t>
            </a:r>
            <a:r>
              <a:rPr lang="en-IN" b="1" dirty="0">
                <a:latin typeface="Gadugi" panose="020B0502040204020203" pitchFamily="34" charset="0"/>
                <a:ea typeface="Gadugi" panose="020B0502040204020203" pitchFamily="34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CA64CE-725E-1C8A-5FBE-CE3DF39E3AED}"/>
              </a:ext>
            </a:extLst>
          </p:cNvPr>
          <p:cNvSpPr txBox="1"/>
          <p:nvPr/>
        </p:nvSpPr>
        <p:spPr>
          <a:xfrm>
            <a:off x="1416377" y="2403885"/>
            <a:ext cx="8934253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b="1" dirty="0">
                <a:latin typeface="Gadugi" panose="020B0502040204020203" pitchFamily="34" charset="0"/>
                <a:ea typeface="Gadugi" panose="020B0502040204020203" pitchFamily="34" charset="0"/>
              </a:rPr>
              <a:t>Routes </a:t>
            </a:r>
            <a:r>
              <a:rPr lang="en-US" b="1" dirty="0">
                <a:latin typeface="Gadugi" panose="020B0502040204020203" pitchFamily="34" charset="0"/>
                <a:ea typeface="Gadugi" panose="020B0502040204020203" pitchFamily="34" charset="0"/>
              </a:rPr>
              <a:t>with 100% or near 100% delay percentage should be optimized, and balanced shipment loads on hubs can reduce delays and improve efficiency, ultimately improving DHL’s logistics</a:t>
            </a:r>
            <a:r>
              <a:rPr lang="en-IN" b="1" dirty="0">
                <a:latin typeface="Gadugi" panose="020B0502040204020203" pitchFamily="34" charset="0"/>
                <a:ea typeface="Gadugi" panose="020B0502040204020203" pitchFamily="34" charset="0"/>
              </a:rPr>
              <a:t> network.</a:t>
            </a:r>
          </a:p>
        </p:txBody>
      </p:sp>
    </p:spTree>
    <p:extLst>
      <p:ext uri="{BB962C8B-B14F-4D97-AF65-F5344CB8AC3E}">
        <p14:creationId xmlns:p14="http://schemas.microsoft.com/office/powerpoint/2010/main" val="1295774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2785F-C593-B482-4538-E4083566F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Arial Black" panose="020B0A04020102020204" pitchFamily="34" charset="0"/>
              </a:rPr>
              <a:t>Task 4: Warehouse Performance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617362-21F6-D850-BC6D-D36AA3CF21E8}"/>
              </a:ext>
            </a:extLst>
          </p:cNvPr>
          <p:cNvSpPr txBox="1"/>
          <p:nvPr/>
        </p:nvSpPr>
        <p:spPr>
          <a:xfrm>
            <a:off x="0" y="4821073"/>
            <a:ext cx="60944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latin typeface="Gadugi" panose="020B0502040204020203" pitchFamily="34" charset="0"/>
                <a:ea typeface="Gadugi" panose="020B0502040204020203" pitchFamily="34" charset="0"/>
              </a:rPr>
              <a:t>Task 4.1: Find the top 3 warehouses with the highest average delay in shipments dispatched. </a:t>
            </a:r>
          </a:p>
          <a:p>
            <a:pPr lvl="1"/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select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Warehouse_ID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, count(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Shipment_ID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) as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Total_Shipments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, round(avg(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Delay_Hours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),2) as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Highest_Avg_Delay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 from Shipments group by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Warehouse_ID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 order by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Highest_Avg_Delay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 desc limit 3;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773ACF-2093-D490-B4A7-8DFC1A68868C}"/>
              </a:ext>
            </a:extLst>
          </p:cNvPr>
          <p:cNvSpPr txBox="1"/>
          <p:nvPr/>
        </p:nvSpPr>
        <p:spPr>
          <a:xfrm>
            <a:off x="6094428" y="4754934"/>
            <a:ext cx="60944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latin typeface="Gadugi" panose="020B0502040204020203" pitchFamily="34" charset="0"/>
                <a:ea typeface="Gadugi" panose="020B0502040204020203" pitchFamily="34" charset="0"/>
              </a:rPr>
              <a:t>Task 4.2: Calculate total shipments vs delayed shipments for each warehouse.</a:t>
            </a:r>
          </a:p>
          <a:p>
            <a:pPr lvl="1"/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select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Warehouse_ID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, count(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Shipment_ID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) as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Total_Shipments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 , count(case when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Delay_Reason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 &lt;&gt; 'No Delay' then 1 End) as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Delayed_Shipments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 from Shipments group by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Warehouse_ID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 order by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Warehouse_ID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;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335CA091-2066-1541-CF2D-0B5DE746B9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3641041"/>
              </p:ext>
            </p:extLst>
          </p:nvPr>
        </p:nvGraphicFramePr>
        <p:xfrm>
          <a:off x="424597" y="1303683"/>
          <a:ext cx="5362674" cy="35173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3200B864-F657-54FD-691C-9A3628F9A1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1430846"/>
              </p:ext>
            </p:extLst>
          </p:nvPr>
        </p:nvGraphicFramePr>
        <p:xfrm>
          <a:off x="6094427" y="1303683"/>
          <a:ext cx="5566529" cy="35173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58305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162DDD3-898B-723F-8E70-53870619C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251" y="4246600"/>
            <a:ext cx="5806912" cy="22296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Gadugi" panose="020B0502040204020203" pitchFamily="34" charset="0"/>
                <a:ea typeface="Gadugi" panose="020B0502040204020203" pitchFamily="34" charset="0"/>
              </a:rPr>
              <a:t>Task 4.3 :  Use CTEs to identify warehouses where average delay exceeds the global average delay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lvl="1"/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with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Global_Avg_Delay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as (select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Warehouse_ID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, round(avg(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Delay_Hours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),2) as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Avg_delay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, avg(round(avg(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Delay_Hours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),2)) over() as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Global_Avg_Delay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from Shipments  group by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Warehouse_ID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) select * from 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Global_Avg_Delay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where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Avg_Delay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&gt;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Global_Avg_Delay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A23D43-F1CF-B56C-4C99-D05D77400764}"/>
              </a:ext>
            </a:extLst>
          </p:cNvPr>
          <p:cNvSpPr txBox="1"/>
          <p:nvPr/>
        </p:nvSpPr>
        <p:spPr>
          <a:xfrm>
            <a:off x="6202838" y="3601039"/>
            <a:ext cx="5806911" cy="3114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Gadugi" panose="020B0502040204020203" pitchFamily="34" charset="0"/>
                <a:ea typeface="Gadugi" panose="020B0502040204020203" pitchFamily="34" charset="0"/>
              </a:rPr>
              <a:t>Task 4.4 : Rank all warehouses based on on-time delivery percentage.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with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Warehouse_Performance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 as (select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Warehouse_ID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, count(*) as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Total_Shipments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, round(100.0 * sum(case when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Delay_Reason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 = 'No Delay' then 1 else 0 End)/ count(*), 2) as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on_time_del_Pct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 from Shipments group by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Warehouse_ID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)select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Warehouse_ID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, 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on_time_del_Pct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, rank() over ( order by 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on_time_del_Pct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 desc) as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warehouse_rank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 from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Warehouse_Performance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;</a:t>
            </a:r>
            <a:endParaRPr lang="en-IN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FD47CC0-721E-02D2-19B4-81F9570A92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4202870"/>
              </p:ext>
            </p:extLst>
          </p:nvPr>
        </p:nvGraphicFramePr>
        <p:xfrm>
          <a:off x="331509" y="268487"/>
          <a:ext cx="5429841" cy="3898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0F0FDFA-E929-B248-CBD0-1DE0497351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8851484"/>
              </p:ext>
            </p:extLst>
          </p:nvPr>
        </p:nvGraphicFramePr>
        <p:xfrm>
          <a:off x="6430651" y="268487"/>
          <a:ext cx="5070049" cy="33325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685149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47D9E-1D2B-FF21-0500-C778FF2B5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097" y="365125"/>
            <a:ext cx="11538408" cy="1325563"/>
          </a:xfrm>
        </p:spPr>
        <p:txBody>
          <a:bodyPr>
            <a:norm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Task 5: Delivery Agent Performance 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D4D8CB-1203-31E5-8722-F7CDA75F3285}"/>
              </a:ext>
            </a:extLst>
          </p:cNvPr>
          <p:cNvSpPr txBox="1"/>
          <p:nvPr/>
        </p:nvSpPr>
        <p:spPr>
          <a:xfrm>
            <a:off x="245097" y="1690688"/>
            <a:ext cx="118212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Gadugi" panose="020B0502040204020203" pitchFamily="34" charset="0"/>
                <a:ea typeface="Gadugi" panose="020B0502040204020203" pitchFamily="34" charset="0"/>
              </a:rPr>
              <a:t>Task 5.1 : Rank delivery agents (per route) by on-time delivery percentage.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with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Del_Agent_Performance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as (  select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Agent_ID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,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Route_ID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, round(100.0 * sum(case when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Delay_Hours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= 0 then 1 else 0 end) / count(*), 2)  as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on_time_del_pct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from Shipments group by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Agent_ID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,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Route_ID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) select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Agent_ID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,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Route_ID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,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on_time_del_pct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,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dense_rank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() over(partition by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Route_ID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order by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on_time_del_pct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desc)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Del_Agent_rank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from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Del_Agent_Performance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8747EF-63CB-946C-24D6-B4283FF96302}"/>
              </a:ext>
            </a:extLst>
          </p:cNvPr>
          <p:cNvSpPr txBox="1"/>
          <p:nvPr/>
        </p:nvSpPr>
        <p:spPr>
          <a:xfrm>
            <a:off x="245097" y="3429000"/>
            <a:ext cx="585090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Gadugi" panose="020B0502040204020203" pitchFamily="34" charset="0"/>
                <a:ea typeface="Gadugi" panose="020B0502040204020203" pitchFamily="34" charset="0"/>
              </a:rPr>
              <a:t>Task 5.2 : Find agents whose on-time % is below 85%.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with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Del_Agent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as (  select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Agent_ID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, round(100.0 * sum(case when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Delay_Hours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= 0 then 1 else 0 end) / count(*), 2)  as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on_time_del_pct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from Shipments group by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Agent_ID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) select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Agent_ID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,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on_time_del_pct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from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Del_Agent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where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on_time_del_pct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&lt; 85 order by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on_time_del_pct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desc; 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AFA5CBB7-3FD3-7F5B-AB45-1161CB8B91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201051"/>
              </p:ext>
            </p:extLst>
          </p:nvPr>
        </p:nvGraphicFramePr>
        <p:xfrm>
          <a:off x="6155703" y="3168015"/>
          <a:ext cx="5627802" cy="33248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16502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DBFDE6E-9084-8700-0E7B-524111CB1AE1}"/>
              </a:ext>
            </a:extLst>
          </p:cNvPr>
          <p:cNvSpPr txBox="1">
            <a:spLocks/>
          </p:cNvSpPr>
          <p:nvPr/>
        </p:nvSpPr>
        <p:spPr>
          <a:xfrm>
            <a:off x="123334" y="177506"/>
            <a:ext cx="7370975" cy="35178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b="1" dirty="0">
                <a:latin typeface="Gadugi" panose="020B0502040204020203" pitchFamily="34" charset="0"/>
                <a:ea typeface="Gadugi" panose="020B0502040204020203" pitchFamily="34" charset="0"/>
              </a:rPr>
              <a:t>Task 5.3 : Compare the average rating and experience (in years) of the top 5 vs bottom 5 agents using subqueries. </a:t>
            </a:r>
          </a:p>
          <a:p>
            <a:pPr lvl="1"/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select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Agent_group,Avg_Experience_Years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,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Avg_rating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from ((select "Top 5 Agents" as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Agent_group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, round(Avg(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Experience_Years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),2) as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avg_Experience_years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,  round(avg(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avg_rating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),2) as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avg_rating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from (select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Agent_ID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,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Experience_Years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,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Avg_rating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 from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delivery_agents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order by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avg_rating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desc limit 5)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Top_Agents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) union all  (select "Bottom 5 Agents" as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Agent_group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, round(Avg(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Experience_Years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),2) as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avg_Experience_years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,  round(avg(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avg_rating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),2) as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avg_rating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from (select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Agent_ID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,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Experience_Years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,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Avg_rating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 from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delivery_agents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order by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avg_rating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Asc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limit 5)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Bottom_Agents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))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Agent_group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;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74FCE6-E824-52F1-8876-B360B76867EE}"/>
              </a:ext>
            </a:extLst>
          </p:cNvPr>
          <p:cNvSpPr txBox="1"/>
          <p:nvPr/>
        </p:nvSpPr>
        <p:spPr>
          <a:xfrm>
            <a:off x="837021" y="4072626"/>
            <a:ext cx="35464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Gadugi" panose="020B0502040204020203" pitchFamily="34" charset="0"/>
                <a:ea typeface="Gadugi" panose="020B0502040204020203" pitchFamily="34" charset="0"/>
              </a:rPr>
              <a:t>Task 5.4 : Suggest training or workload balancing strategies for low-performing agents based on insights. </a:t>
            </a:r>
            <a:endParaRPr lang="en-IN" sz="1800" b="1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240B675D-3353-05D6-0FDD-3883188208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2599249"/>
              </p:ext>
            </p:extLst>
          </p:nvPr>
        </p:nvGraphicFramePr>
        <p:xfrm>
          <a:off x="7494309" y="33948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3B73B02-B761-661C-EA8D-FFFF010BDF65}"/>
              </a:ext>
            </a:extLst>
          </p:cNvPr>
          <p:cNvSpPr txBox="1"/>
          <p:nvPr/>
        </p:nvSpPr>
        <p:spPr>
          <a:xfrm>
            <a:off x="5024487" y="3775312"/>
            <a:ext cx="6621934" cy="25853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latin typeface="Gadugi" panose="020B0502040204020203" pitchFamily="34" charset="0"/>
                <a:ea typeface="Gadugi" panose="020B0502040204020203" pitchFamily="34" charset="0"/>
              </a:rPr>
              <a:t>From the insights of performance of the delivery agent, it is depicted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adugi" panose="020B0502040204020203" pitchFamily="34" charset="0"/>
                <a:ea typeface="Gadugi" panose="020B0502040204020203" pitchFamily="34" charset="0"/>
              </a:rPr>
              <a:t> Bottom-performing agents require training to develop skills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adugi" panose="020B0502040204020203" pitchFamily="34" charset="0"/>
                <a:ea typeface="Gadugi" panose="020B0502040204020203" pitchFamily="34" charset="0"/>
              </a:rPr>
              <a:t>They should be taught time management by </a:t>
            </a:r>
            <a:r>
              <a:rPr lang="en-US" b="1" dirty="0" err="1">
                <a:latin typeface="Gadugi" panose="020B0502040204020203" pitchFamily="34" charset="0"/>
                <a:ea typeface="Gadugi" panose="020B0502040204020203" pitchFamily="34" charset="0"/>
              </a:rPr>
              <a:t>familiarising</a:t>
            </a:r>
            <a:r>
              <a:rPr lang="en-US" b="1" dirty="0">
                <a:latin typeface="Gadugi" panose="020B0502040204020203" pitchFamily="34" charset="0"/>
                <a:ea typeface="Gadugi" panose="020B0502040204020203" pitchFamily="34" charset="0"/>
              </a:rPr>
              <a:t> them with routes and not rotating routes for agents.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adugi" panose="020B0502040204020203" pitchFamily="34" charset="0"/>
                <a:ea typeface="Gadugi" panose="020B0502040204020203" pitchFamily="34" charset="0"/>
              </a:rPr>
              <a:t>Increase knowledge transfer programs by pairing top performers with bottom performers.</a:t>
            </a:r>
          </a:p>
        </p:txBody>
      </p:sp>
    </p:spTree>
    <p:extLst>
      <p:ext uri="{BB962C8B-B14F-4D97-AF65-F5344CB8AC3E}">
        <p14:creationId xmlns:p14="http://schemas.microsoft.com/office/powerpoint/2010/main" val="3690150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6A5C4-E44D-F159-60DC-2A6331521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747" y="365125"/>
            <a:ext cx="11658599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Task 6: Shipment Tracking Analytics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F67D7-2639-75F4-9519-392093F8E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748" y="1769064"/>
            <a:ext cx="5361494" cy="18414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Gadugi" panose="020B0502040204020203" pitchFamily="34" charset="0"/>
                <a:ea typeface="Gadugi" panose="020B0502040204020203" pitchFamily="34" charset="0"/>
              </a:rPr>
              <a:t>Task 6.1 : For each shipment, display the latest status (Delivered, In Transit, or Returned) along with the latest </a:t>
            </a:r>
            <a:r>
              <a:rPr lang="en-US" sz="1800" b="1" dirty="0" err="1">
                <a:latin typeface="Gadugi" panose="020B0502040204020203" pitchFamily="34" charset="0"/>
                <a:ea typeface="Gadugi" panose="020B0502040204020203" pitchFamily="34" charset="0"/>
              </a:rPr>
              <a:t>Delivery_Date</a:t>
            </a:r>
            <a:r>
              <a:rPr lang="en-US" sz="1800" b="1" dirty="0">
                <a:latin typeface="Gadugi" panose="020B0502040204020203" pitchFamily="34" charset="0"/>
                <a:ea typeface="Gadugi" panose="020B0502040204020203" pitchFamily="34" charset="0"/>
              </a:rPr>
              <a:t>. </a:t>
            </a:r>
          </a:p>
          <a:p>
            <a:pPr lvl="1"/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select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Shipment_ID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,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Delivery_status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as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latest_status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, date(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Delivery_Date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) as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latest_Delivery_Date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from (select *,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row_number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() over(partition by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Shipment_ID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order by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Delivery_Date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desc)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rn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from Shipments )t;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62DBC2-215B-C645-C2E5-F1776E14E64D}"/>
              </a:ext>
            </a:extLst>
          </p:cNvPr>
          <p:cNvSpPr txBox="1"/>
          <p:nvPr/>
        </p:nvSpPr>
        <p:spPr>
          <a:xfrm>
            <a:off x="209747" y="4666901"/>
            <a:ext cx="60944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Gadugi" panose="020B0502040204020203" pitchFamily="34" charset="0"/>
                <a:ea typeface="Gadugi" panose="020B0502040204020203" pitchFamily="34" charset="0"/>
              </a:rPr>
              <a:t>Task 6.2 : Identify routes where the majority of shipments are still “In Transit” or “Returned”. </a:t>
            </a:r>
          </a:p>
          <a:p>
            <a:pPr lvl="1"/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select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Route_ID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, count(*)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total_Shipments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, sum(case when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Delivery_Status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IN ('In Transit', 'Returned') then 1 else 0 end ) as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In_transit_Returned_Shipments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from Shipments group by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route_ID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order by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In_transit_Returned_Shipments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desc;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96B1812-311F-1530-D3FA-4064A3EB13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366877"/>
              </p:ext>
            </p:extLst>
          </p:nvPr>
        </p:nvGraphicFramePr>
        <p:xfrm>
          <a:off x="6542202" y="1396591"/>
          <a:ext cx="5005634" cy="5096291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957453">
                  <a:extLst>
                    <a:ext uri="{9D8B030D-6E8A-4147-A177-3AD203B41FA5}">
                      <a16:colId xmlns:a16="http://schemas.microsoft.com/office/drawing/2014/main" val="676269270"/>
                    </a:ext>
                  </a:extLst>
                </a:gridCol>
                <a:gridCol w="1461377">
                  <a:extLst>
                    <a:ext uri="{9D8B030D-6E8A-4147-A177-3AD203B41FA5}">
                      <a16:colId xmlns:a16="http://schemas.microsoft.com/office/drawing/2014/main" val="4070935640"/>
                    </a:ext>
                  </a:extLst>
                </a:gridCol>
                <a:gridCol w="2586804">
                  <a:extLst>
                    <a:ext uri="{9D8B030D-6E8A-4147-A177-3AD203B41FA5}">
                      <a16:colId xmlns:a16="http://schemas.microsoft.com/office/drawing/2014/main" val="3380355901"/>
                    </a:ext>
                  </a:extLst>
                </a:gridCol>
              </a:tblGrid>
              <a:tr h="23303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Route ID</a:t>
                      </a:r>
                      <a:endParaRPr lang="en-IN" sz="1200" b="1" i="0" u="none" strike="noStrike" dirty="0">
                        <a:solidFill>
                          <a:srgbClr val="FFFFFF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Total Shipments</a:t>
                      </a:r>
                      <a:endParaRPr lang="en-IN" sz="1200" b="1" i="0" u="none" strike="noStrike" dirty="0">
                        <a:solidFill>
                          <a:srgbClr val="FFFFFF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In transit &amp; Returned Shipments</a:t>
                      </a:r>
                      <a:endParaRPr lang="en-IN" sz="1200" b="1" i="0" u="none" strike="noStrike" dirty="0">
                        <a:solidFill>
                          <a:srgbClr val="FFFFFF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897930"/>
                  </a:ext>
                </a:extLst>
              </a:tr>
              <a:tr h="2431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R018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59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11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0809119"/>
                  </a:ext>
                </a:extLst>
              </a:tr>
              <a:tr h="2431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R013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50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9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0239237"/>
                  </a:ext>
                </a:extLst>
              </a:tr>
              <a:tr h="2431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R002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47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7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5393798"/>
                  </a:ext>
                </a:extLst>
              </a:tr>
              <a:tr h="2431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R020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42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7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0198340"/>
                  </a:ext>
                </a:extLst>
              </a:tr>
              <a:tr h="2431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R016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71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7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4218742"/>
                  </a:ext>
                </a:extLst>
              </a:tr>
              <a:tr h="2431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R017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53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7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4726652"/>
                  </a:ext>
                </a:extLst>
              </a:tr>
              <a:tr h="2431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R006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56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7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5355138"/>
                  </a:ext>
                </a:extLst>
              </a:tr>
              <a:tr h="2431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R012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56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6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1506760"/>
                  </a:ext>
                </a:extLst>
              </a:tr>
              <a:tr h="2431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R015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56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5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9028563"/>
                  </a:ext>
                </a:extLst>
              </a:tr>
              <a:tr h="2431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R010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52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5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4351166"/>
                  </a:ext>
                </a:extLst>
              </a:tr>
              <a:tr h="2431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R007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51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5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2204752"/>
                  </a:ext>
                </a:extLst>
              </a:tr>
              <a:tr h="2431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R019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49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4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7132241"/>
                  </a:ext>
                </a:extLst>
              </a:tr>
              <a:tr h="2431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R009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38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4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7084332"/>
                  </a:ext>
                </a:extLst>
              </a:tr>
              <a:tr h="2431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R014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53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4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8767252"/>
                  </a:ext>
                </a:extLst>
              </a:tr>
              <a:tr h="2431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R004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49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4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3627072"/>
                  </a:ext>
                </a:extLst>
              </a:tr>
              <a:tr h="2431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R008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44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178109"/>
                  </a:ext>
                </a:extLst>
              </a:tr>
              <a:tr h="2431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R005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48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6444688"/>
                  </a:ext>
                </a:extLst>
              </a:tr>
              <a:tr h="2431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R003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34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6268609"/>
                  </a:ext>
                </a:extLst>
              </a:tr>
              <a:tr h="2431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R001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44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2667370"/>
                  </a:ext>
                </a:extLst>
              </a:tr>
              <a:tr h="2431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R011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  <a:latin typeface="Arial Rounded MT Bold" panose="020F0704030504030204" pitchFamily="34" charset="0"/>
                        </a:rPr>
                        <a:t>48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1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64898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8710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6D4164E-28F6-598C-69CD-F74294890A66}"/>
              </a:ext>
            </a:extLst>
          </p:cNvPr>
          <p:cNvSpPr txBox="1"/>
          <p:nvPr/>
        </p:nvSpPr>
        <p:spPr>
          <a:xfrm>
            <a:off x="351149" y="626942"/>
            <a:ext cx="60944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Gadugi" panose="020B0502040204020203" pitchFamily="34" charset="0"/>
                <a:ea typeface="Gadugi" panose="020B0502040204020203" pitchFamily="34" charset="0"/>
              </a:rPr>
              <a:t>Task 6.3 : Find the most frequent delay reasons (if available in delay-related columns or flags). </a:t>
            </a:r>
          </a:p>
          <a:p>
            <a:pPr lvl="1"/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select 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Delay_Reason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, count(*) as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Total_Delays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from Shipments where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Delay_reason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Not IN ('No Delay') group by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Delay_Reason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order by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Total_Delays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desc limit 1;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762329-0835-1040-EFD2-DAFE6231A1BE}"/>
              </a:ext>
            </a:extLst>
          </p:cNvPr>
          <p:cNvSpPr txBox="1"/>
          <p:nvPr/>
        </p:nvSpPr>
        <p:spPr>
          <a:xfrm>
            <a:off x="351149" y="3662935"/>
            <a:ext cx="6094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Gadugi" panose="020B0502040204020203" pitchFamily="34" charset="0"/>
                <a:ea typeface="Gadugi" panose="020B0502040204020203" pitchFamily="34" charset="0"/>
              </a:rPr>
              <a:t>Task 6.4 : Identify orders with exceptionally high delay (&gt;120 hours) to investigate potential bottlenecks.</a:t>
            </a:r>
          </a:p>
          <a:p>
            <a:pPr lvl="1"/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select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order_ID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,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Delay_Hours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from Shipments where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Delay_Hours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&gt;120 order by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Delay_Hours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desc; </a:t>
            </a:r>
            <a:endParaRPr lang="en-IN" sz="18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521CF4-4344-0944-CF04-129BDB161129}"/>
              </a:ext>
            </a:extLst>
          </p:cNvPr>
          <p:cNvSpPr txBox="1"/>
          <p:nvPr/>
        </p:nvSpPr>
        <p:spPr>
          <a:xfrm>
            <a:off x="7732335" y="980885"/>
            <a:ext cx="2637150" cy="954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en-IN" sz="2800" b="0" i="0" u="none" strike="noStrike" dirty="0">
                <a:solidFill>
                  <a:srgbClr val="000000"/>
                </a:solidFill>
                <a:effectLst/>
                <a:latin typeface="Arial Black" panose="020B0A04020102020204" pitchFamily="34" charset="0"/>
              </a:rPr>
              <a:t>Traffic</a:t>
            </a:r>
            <a:r>
              <a:rPr lang="en-IN" sz="2800" dirty="0">
                <a:effectLst/>
                <a:latin typeface="Arial Black" panose="020B0A04020102020204" pitchFamily="34" charset="0"/>
              </a:rPr>
              <a:t>: </a:t>
            </a:r>
            <a:r>
              <a:rPr lang="en-IN" sz="2800" b="0" i="0" u="none" strike="noStrike" dirty="0">
                <a:solidFill>
                  <a:srgbClr val="000000"/>
                </a:solidFill>
                <a:effectLst/>
                <a:latin typeface="Arial Black" panose="020B0A04020102020204" pitchFamily="34" charset="0"/>
              </a:rPr>
              <a:t>486</a:t>
            </a:r>
            <a:r>
              <a:rPr lang="en-IN" sz="2800" dirty="0">
                <a:effectLst/>
                <a:latin typeface="Arial Black" panose="020B0A04020102020204" pitchFamily="34" charset="0"/>
              </a:rPr>
              <a:t> /1000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8AAD1B-3277-B33C-B5A8-FCC5F103F2CE}"/>
              </a:ext>
            </a:extLst>
          </p:cNvPr>
          <p:cNvSpPr txBox="1"/>
          <p:nvPr/>
        </p:nvSpPr>
        <p:spPr>
          <a:xfrm>
            <a:off x="7271993" y="3499413"/>
            <a:ext cx="3446284" cy="13849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en-IN" sz="2800" b="0" i="0" u="none" strike="noStrike" dirty="0">
                <a:solidFill>
                  <a:srgbClr val="000000"/>
                </a:solidFill>
                <a:effectLst/>
                <a:latin typeface="Arial Black" panose="020B0A04020102020204" pitchFamily="34" charset="0"/>
              </a:rPr>
              <a:t>Total Orders with delay hour &gt;120 </a:t>
            </a:r>
            <a:r>
              <a:rPr lang="en-IN" sz="2800" dirty="0">
                <a:effectLst/>
                <a:latin typeface="Arial Black" panose="020B0A04020102020204" pitchFamily="34" charset="0"/>
              </a:rPr>
              <a:t>: </a:t>
            </a:r>
            <a:r>
              <a:rPr lang="en-IN" sz="2800" dirty="0">
                <a:solidFill>
                  <a:srgbClr val="000000"/>
                </a:solidFill>
                <a:latin typeface="Arial Black" panose="020B0A04020102020204" pitchFamily="34" charset="0"/>
              </a:rPr>
              <a:t>52</a:t>
            </a:r>
            <a:endParaRPr lang="en-IN" sz="28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321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1F603-9D4D-9D81-3FD9-7E788FF0D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Task 7: Advanced KPI Reporting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EFC67-7E19-6C18-3422-73508990E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" y="1568917"/>
            <a:ext cx="6979205" cy="156495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Gadugi" panose="020B0502040204020203" pitchFamily="34" charset="0"/>
                <a:ea typeface="Gadugi" panose="020B0502040204020203" pitchFamily="34" charset="0"/>
              </a:rPr>
              <a:t>Task 7.1 : Average Delivery Delay per </a:t>
            </a:r>
            <a:r>
              <a:rPr lang="en-US" sz="1800" b="1" dirty="0" err="1">
                <a:latin typeface="Gadugi" panose="020B0502040204020203" pitchFamily="34" charset="0"/>
                <a:ea typeface="Gadugi" panose="020B0502040204020203" pitchFamily="34" charset="0"/>
              </a:rPr>
              <a:t>Source_Country</a:t>
            </a:r>
            <a:r>
              <a:rPr lang="en-US" sz="1800" b="1" dirty="0">
                <a:latin typeface="Gadugi" panose="020B0502040204020203" pitchFamily="34" charset="0"/>
                <a:ea typeface="Gadugi" panose="020B0502040204020203" pitchFamily="34" charset="0"/>
              </a:rPr>
              <a:t>. </a:t>
            </a:r>
          </a:p>
          <a:p>
            <a:pPr lvl="1"/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select 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r.Source_country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, round(avg(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s.delay_hours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),2) as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avg_delay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from Shipments s inner join Routes r on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s.Route_ID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=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r.Route_ID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group by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r.Source_Country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order by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avg_delay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desc;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AD073A2-F940-DD83-A069-78AA7585B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8771" y="1414469"/>
            <a:ext cx="3795089" cy="32387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907D62-A679-2730-2301-55AEC390DDE6}"/>
              </a:ext>
            </a:extLst>
          </p:cNvPr>
          <p:cNvSpPr txBox="1"/>
          <p:nvPr/>
        </p:nvSpPr>
        <p:spPr>
          <a:xfrm>
            <a:off x="358140" y="3429000"/>
            <a:ext cx="44348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Gadugi" panose="020B0502040204020203" pitchFamily="34" charset="0"/>
                <a:ea typeface="Gadugi" panose="020B0502040204020203" pitchFamily="34" charset="0"/>
              </a:rPr>
              <a:t>Task 7.2 : On-Time Delivery % = (Total On-Time Deliveries / Total Deliveries) * 100.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select round(100.0 * sum(case when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Delay_Hours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 = 0 then 1 else 0 end )/ Count(*),2) as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On_Time_Delivery_Percentage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 from Shipments;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8506631-A02F-F59A-E8AB-436A5746D7CF}"/>
              </a:ext>
            </a:extLst>
          </p:cNvPr>
          <p:cNvSpPr/>
          <p:nvPr/>
        </p:nvSpPr>
        <p:spPr>
          <a:xfrm>
            <a:off x="5067300" y="4168943"/>
            <a:ext cx="2164080" cy="112014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Arial Black" panose="020B0A04020102020204" pitchFamily="34" charset="0"/>
              </a:rPr>
              <a:t>6.8 %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On Time Delivery </a:t>
            </a:r>
          </a:p>
        </p:txBody>
      </p:sp>
    </p:spTree>
    <p:extLst>
      <p:ext uri="{BB962C8B-B14F-4D97-AF65-F5344CB8AC3E}">
        <p14:creationId xmlns:p14="http://schemas.microsoft.com/office/powerpoint/2010/main" val="551256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4FF4E4A-56BA-C7A1-CABB-719024CA6CF5}"/>
              </a:ext>
            </a:extLst>
          </p:cNvPr>
          <p:cNvSpPr txBox="1"/>
          <p:nvPr/>
        </p:nvSpPr>
        <p:spPr>
          <a:xfrm>
            <a:off x="246249" y="5445896"/>
            <a:ext cx="6094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Gadugi" panose="020B0502040204020203" pitchFamily="34" charset="0"/>
                <a:ea typeface="Gadugi" panose="020B0502040204020203" pitchFamily="34" charset="0"/>
              </a:rPr>
              <a:t>Task 7.3 : Average Delay (in hours) per </a:t>
            </a:r>
            <a:r>
              <a:rPr lang="en-US" sz="1800" b="1" dirty="0" err="1">
                <a:latin typeface="Gadugi" panose="020B0502040204020203" pitchFamily="34" charset="0"/>
                <a:ea typeface="Gadugi" panose="020B0502040204020203" pitchFamily="34" charset="0"/>
              </a:rPr>
              <a:t>Route_ID</a:t>
            </a:r>
            <a:r>
              <a:rPr lang="en-US" sz="1800" b="1" dirty="0">
                <a:latin typeface="Gadugi" panose="020B0502040204020203" pitchFamily="34" charset="0"/>
                <a:ea typeface="Gadugi" panose="020B0502040204020203" pitchFamily="34" charset="0"/>
              </a:rPr>
              <a:t>. </a:t>
            </a:r>
          </a:p>
          <a:p>
            <a:pPr lvl="1"/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select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Route_ID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, round(avg(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Delay_Hours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),2) as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Avg_Delay_Hours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from shipments group by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Route_ID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order by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Route_ID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 </a:t>
            </a:r>
            <a:r>
              <a:rPr lang="en-US" sz="1800" dirty="0" err="1">
                <a:latin typeface="Gadugi" panose="020B0502040204020203" pitchFamily="34" charset="0"/>
                <a:ea typeface="Gadugi" panose="020B0502040204020203" pitchFamily="34" charset="0"/>
              </a:rPr>
              <a:t>Asc</a:t>
            </a:r>
            <a:r>
              <a:rPr lang="en-US" sz="1800" dirty="0">
                <a:latin typeface="Gadugi" panose="020B0502040204020203" pitchFamily="34" charset="0"/>
                <a:ea typeface="Gadugi" panose="020B0502040204020203" pitchFamily="34" charset="0"/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6BECD3-B2C0-5AFF-26A3-55A206DE5814}"/>
              </a:ext>
            </a:extLst>
          </p:cNvPr>
          <p:cNvSpPr txBox="1"/>
          <p:nvPr/>
        </p:nvSpPr>
        <p:spPr>
          <a:xfrm>
            <a:off x="6408654" y="3928927"/>
            <a:ext cx="609442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Gadugi" panose="020B0502040204020203" pitchFamily="34" charset="0"/>
                <a:ea typeface="Gadugi" panose="020B0502040204020203" pitchFamily="34" charset="0"/>
              </a:rPr>
              <a:t>Task 7.4 : Warehouse Utilization % = (</a:t>
            </a:r>
            <a:r>
              <a:rPr lang="en-US" sz="1800" b="1" dirty="0" err="1">
                <a:latin typeface="Gadugi" panose="020B0502040204020203" pitchFamily="34" charset="0"/>
                <a:ea typeface="Gadugi" panose="020B0502040204020203" pitchFamily="34" charset="0"/>
              </a:rPr>
              <a:t>Shipments_Handled</a:t>
            </a:r>
            <a:r>
              <a:rPr lang="en-US" sz="1800" b="1" dirty="0">
                <a:latin typeface="Gadugi" panose="020B0502040204020203" pitchFamily="34" charset="0"/>
                <a:ea typeface="Gadugi" panose="020B0502040204020203" pitchFamily="34" charset="0"/>
              </a:rPr>
              <a:t> / </a:t>
            </a:r>
            <a:r>
              <a:rPr lang="en-US" sz="1800" b="1" dirty="0" err="1">
                <a:latin typeface="Gadugi" panose="020B0502040204020203" pitchFamily="34" charset="0"/>
                <a:ea typeface="Gadugi" panose="020B0502040204020203" pitchFamily="34" charset="0"/>
              </a:rPr>
              <a:t>Capacity_per_day</a:t>
            </a:r>
            <a:r>
              <a:rPr lang="en-US" sz="1800" b="1" dirty="0">
                <a:latin typeface="Gadugi" panose="020B0502040204020203" pitchFamily="34" charset="0"/>
                <a:ea typeface="Gadugi" panose="020B0502040204020203" pitchFamily="34" charset="0"/>
              </a:rPr>
              <a:t>) * 100.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Select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s.Warehouse_ID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, round((100.0 * count(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s.Shipment_ID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)/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w.Capacity_per_day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),2) as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Warehouse_Utilization_Percentage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 from Shipments s inner join warehouses w on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s.warehouse_ID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 =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w.warehouse_ID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 group by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Warehouse_ID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,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w.Capacity_per_dayorder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 by </a:t>
            </a:r>
            <a:r>
              <a:rPr lang="en-US" dirty="0" err="1">
                <a:latin typeface="Gadugi" panose="020B0502040204020203" pitchFamily="34" charset="0"/>
                <a:ea typeface="Gadugi" panose="020B0502040204020203" pitchFamily="34" charset="0"/>
              </a:rPr>
              <a:t>Warehouse_Utilization_Percentage</a:t>
            </a:r>
            <a:r>
              <a:rPr lang="en-US" dirty="0">
                <a:latin typeface="Gadugi" panose="020B0502040204020203" pitchFamily="34" charset="0"/>
                <a:ea typeface="Gadugi" panose="020B0502040204020203" pitchFamily="34" charset="0"/>
              </a:rPr>
              <a:t> desc;</a:t>
            </a:r>
            <a:endParaRPr lang="en-IN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DBC150A-1972-BB7E-4287-18810DF12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251379"/>
              </p:ext>
            </p:extLst>
          </p:nvPr>
        </p:nvGraphicFramePr>
        <p:xfrm>
          <a:off x="246249" y="211775"/>
          <a:ext cx="4504860" cy="5234119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1723336">
                  <a:extLst>
                    <a:ext uri="{9D8B030D-6E8A-4147-A177-3AD203B41FA5}">
                      <a16:colId xmlns:a16="http://schemas.microsoft.com/office/drawing/2014/main" val="569589653"/>
                    </a:ext>
                  </a:extLst>
                </a:gridCol>
                <a:gridCol w="2781524">
                  <a:extLst>
                    <a:ext uri="{9D8B030D-6E8A-4147-A177-3AD203B41FA5}">
                      <a16:colId xmlns:a16="http://schemas.microsoft.com/office/drawing/2014/main" val="3597239533"/>
                    </a:ext>
                  </a:extLst>
                </a:gridCol>
              </a:tblGrid>
              <a:tr h="2909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effectLst/>
                        </a:rPr>
                        <a:t>Route ID</a:t>
                      </a:r>
                      <a:endParaRPr lang="en-IN" sz="1400" b="1" i="0" u="none" strike="noStrike" dirty="0">
                        <a:solidFill>
                          <a:srgbClr val="FFFFFF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effectLst/>
                        </a:rPr>
                        <a:t>Average Delay Hours</a:t>
                      </a:r>
                      <a:endParaRPr lang="en-IN" sz="1400" b="1" i="0" u="none" strike="noStrike" dirty="0">
                        <a:solidFill>
                          <a:srgbClr val="FFFFFF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6493062"/>
                  </a:ext>
                </a:extLst>
              </a:tr>
              <a:tr h="2471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R001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6.83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5775707"/>
                  </a:ext>
                </a:extLst>
              </a:tr>
              <a:tr h="2471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R002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41.04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2725867"/>
                  </a:ext>
                </a:extLst>
              </a:tr>
              <a:tr h="2471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R003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32.18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5933463"/>
                  </a:ext>
                </a:extLst>
              </a:tr>
              <a:tr h="2471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R004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25.88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7003231"/>
                  </a:ext>
                </a:extLst>
              </a:tr>
              <a:tr h="2471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R005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29.86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3438496"/>
                  </a:ext>
                </a:extLst>
              </a:tr>
              <a:tr h="2471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R006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14.01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8801430"/>
                  </a:ext>
                </a:extLst>
              </a:tr>
              <a:tr h="2471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R007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34.01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6694543"/>
                  </a:ext>
                </a:extLst>
              </a:tr>
              <a:tr h="2471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R008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30.81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2345239"/>
                  </a:ext>
                </a:extLst>
              </a:tr>
              <a:tr h="2471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R009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9.72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872483"/>
                  </a:ext>
                </a:extLst>
              </a:tr>
              <a:tr h="2471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R010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20.25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0490472"/>
                  </a:ext>
                </a:extLst>
              </a:tr>
              <a:tr h="2471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R011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22.64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7484824"/>
                  </a:ext>
                </a:extLst>
              </a:tr>
              <a:tr h="2471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R012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13.89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2733107"/>
                  </a:ext>
                </a:extLst>
              </a:tr>
              <a:tr h="2471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R013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11.95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9565029"/>
                  </a:ext>
                </a:extLst>
              </a:tr>
              <a:tr h="2471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R014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20.97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1181309"/>
                  </a:ext>
                </a:extLst>
              </a:tr>
              <a:tr h="2471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R015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15.19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5531610"/>
                  </a:ext>
                </a:extLst>
              </a:tr>
              <a:tr h="2471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R016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14.89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2967633"/>
                  </a:ext>
                </a:extLst>
              </a:tr>
              <a:tr h="2471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R017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19.27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1408680"/>
                  </a:ext>
                </a:extLst>
              </a:tr>
              <a:tr h="2471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R018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25.83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9377962"/>
                  </a:ext>
                </a:extLst>
              </a:tr>
              <a:tr h="2471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R019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13.91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2375027"/>
                  </a:ext>
                </a:extLst>
              </a:tr>
              <a:tr h="2471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>
                          <a:effectLst/>
                        </a:rPr>
                        <a:t>R020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1" u="none" strike="noStrike" dirty="0">
                          <a:effectLst/>
                        </a:rPr>
                        <a:t>32.8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4269326"/>
                  </a:ext>
                </a:extLst>
              </a:tr>
            </a:tbl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8ED5E2D6-5FD4-A729-C60F-EC20ED8567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5074527"/>
              </p:ext>
            </p:extLst>
          </p:nvPr>
        </p:nvGraphicFramePr>
        <p:xfrm>
          <a:off x="6096000" y="211774"/>
          <a:ext cx="5346255" cy="36155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95799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04465-1554-8491-23F0-FEC161FEC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645" y="365125"/>
            <a:ext cx="11462994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dirty="0">
                <a:latin typeface="Arial Black" panose="020B0A04020102020204" pitchFamily="34" charset="0"/>
              </a:rPr>
              <a:t>Key Insights and Recommendations :</a:t>
            </a:r>
            <a:br>
              <a:rPr lang="en-IN" sz="3200" dirty="0">
                <a:latin typeface="Arial Black" panose="020B0A04020102020204" pitchFamily="34" charset="0"/>
              </a:rPr>
            </a:br>
            <a:r>
              <a:rPr lang="en-IN" sz="3200" dirty="0">
                <a:latin typeface="Arial Black" panose="020B0A04020102020204" pitchFamily="34" charset="0"/>
              </a:rPr>
              <a:t> for DHL logistics optimisation.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ADF5F-C09C-0538-BE6B-D5531BF67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059" y="1752967"/>
            <a:ext cx="4967926" cy="3839115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IN" b="1" dirty="0"/>
              <a:t>Key Insights</a:t>
            </a:r>
          </a:p>
          <a:p>
            <a:r>
              <a:rPr lang="en-US" dirty="0"/>
              <a:t>Delay in shipment is a </a:t>
            </a:r>
            <a:r>
              <a:rPr lang="en-US" b="1" dirty="0"/>
              <a:t>network-wide inefficiency</a:t>
            </a:r>
            <a:r>
              <a:rPr lang="en-US" dirty="0"/>
              <a:t> rather than isolated issues.</a:t>
            </a:r>
            <a:endParaRPr lang="en-IN" dirty="0"/>
          </a:p>
          <a:p>
            <a:r>
              <a:rPr lang="en-IN" dirty="0"/>
              <a:t>Routes exceed the 20% delay threshold whereas some reaches up to 80% to 100%.</a:t>
            </a:r>
          </a:p>
          <a:p>
            <a:r>
              <a:rPr lang="en-IN" dirty="0"/>
              <a:t>Express delivery shows more delay (22.5) shipments than standard delivery delay (20.85).</a:t>
            </a:r>
          </a:p>
          <a:p>
            <a:r>
              <a:rPr lang="en-US" dirty="0"/>
              <a:t>Congestion at key hubs increases downstream delays.</a:t>
            </a:r>
          </a:p>
          <a:p>
            <a:r>
              <a:rPr lang="en-US" dirty="0"/>
              <a:t>There is a significant gap between top performing and bottom performing agents. </a:t>
            </a:r>
          </a:p>
          <a:p>
            <a:r>
              <a:rPr lang="en-US" dirty="0"/>
              <a:t>Lower performing agents have less experience &amp; higher workload</a:t>
            </a:r>
          </a:p>
          <a:p>
            <a:r>
              <a:rPr lang="en-US" dirty="0"/>
              <a:t>Poor load distribution amplifies route delays.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C65C654-4EF9-9C94-3996-4EBA579E5D45}"/>
              </a:ext>
            </a:extLst>
          </p:cNvPr>
          <p:cNvSpPr txBox="1">
            <a:spLocks/>
          </p:cNvSpPr>
          <p:nvPr/>
        </p:nvSpPr>
        <p:spPr>
          <a:xfrm>
            <a:off x="6183984" y="1952919"/>
            <a:ext cx="5271155" cy="3439213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/>
              <a:t>Recommendations</a:t>
            </a:r>
          </a:p>
          <a:p>
            <a:r>
              <a:rPr lang="en-US" dirty="0"/>
              <a:t>Introduce alternate paths or </a:t>
            </a:r>
            <a:r>
              <a:rPr lang="en-US" b="1" dirty="0"/>
              <a:t>split long routes into hub-to-hub segments</a:t>
            </a:r>
            <a:r>
              <a:rPr lang="en-US" dirty="0"/>
              <a:t>.</a:t>
            </a:r>
          </a:p>
          <a:p>
            <a:r>
              <a:rPr lang="en-US" dirty="0"/>
              <a:t>Improve Agent Performance Through Targeted Actions </a:t>
            </a:r>
          </a:p>
          <a:p>
            <a:r>
              <a:rPr lang="en-US" dirty="0"/>
              <a:t>Training bottom-performing agents, route understanding to agents may reduce delay hours.</a:t>
            </a:r>
          </a:p>
          <a:p>
            <a:r>
              <a:rPr lang="en-IN" dirty="0"/>
              <a:t>Implement </a:t>
            </a:r>
            <a:r>
              <a:rPr lang="en-IN" b="1" dirty="0"/>
              <a:t>capacity-based routing rules.</a:t>
            </a:r>
          </a:p>
          <a:p>
            <a:r>
              <a:rPr lang="en-IN" dirty="0"/>
              <a:t>Balance workloads to avoid over assignment.</a:t>
            </a:r>
          </a:p>
          <a:p>
            <a:r>
              <a:rPr lang="en-IN" dirty="0"/>
              <a:t>Pair bottom performing agents with top performing agents through mentorship programs.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F017FA-0BE8-528A-3553-A92AA7688516}"/>
              </a:ext>
            </a:extLst>
          </p:cNvPr>
          <p:cNvSpPr txBox="1"/>
          <p:nvPr/>
        </p:nvSpPr>
        <p:spPr>
          <a:xfrm>
            <a:off x="446202" y="5569545"/>
            <a:ext cx="11302739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“This analysis highlights systemic delivery delays driven by route congestion, warehouse over-utilization, and agent workload imbalance. Implementing targeted route optimization, balanced workloads, and performance monitoring can significantly enhance DHL’s delivery efficiency and customer experience.”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73044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F8752-ACD2-2305-32EE-071D20BF1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 Black" panose="020B0A04020102020204" pitchFamily="34" charset="0"/>
              </a:rPr>
              <a:t>Task 9 : Video Submission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120E5-85DE-2788-3D98-F754DC60E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Link : </a:t>
            </a:r>
            <a:r>
              <a:rPr lang="en-IN" sz="2400" u="sng" dirty="0"/>
              <a:t>https://www.loom.com/share/dae61142aa7844eebbb5fcbb3a461e74</a:t>
            </a:r>
            <a:endParaRPr lang="en-IN" u="sng" dirty="0"/>
          </a:p>
        </p:txBody>
      </p:sp>
    </p:spTree>
    <p:extLst>
      <p:ext uri="{BB962C8B-B14F-4D97-AF65-F5344CB8AC3E}">
        <p14:creationId xmlns:p14="http://schemas.microsoft.com/office/powerpoint/2010/main" val="36425062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CC3635B-AF46-2760-9DFB-668B9245E199}"/>
              </a:ext>
            </a:extLst>
          </p:cNvPr>
          <p:cNvSpPr/>
          <p:nvPr/>
        </p:nvSpPr>
        <p:spPr>
          <a:xfrm>
            <a:off x="2777765" y="1847653"/>
            <a:ext cx="6636470" cy="2450969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dirty="0">
                <a:solidFill>
                  <a:srgbClr val="002060"/>
                </a:solidFill>
                <a:latin typeface="Magneto" panose="04030805050802020D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36925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1179</TotalTime>
  <Words>3127</Words>
  <Application>Microsoft Office PowerPoint</Application>
  <PresentationFormat>Widescreen</PresentationFormat>
  <Paragraphs>387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Arial</vt:lpstr>
      <vt:lpstr>Arial Black</vt:lpstr>
      <vt:lpstr>Arial Rounded MT Bold</vt:lpstr>
      <vt:lpstr>Calibri</vt:lpstr>
      <vt:lpstr>Calibri Light</vt:lpstr>
      <vt:lpstr>Eras Demi ITC</vt:lpstr>
      <vt:lpstr>Gadugi</vt:lpstr>
      <vt:lpstr>Gill Sans Ultra Bold</vt:lpstr>
      <vt:lpstr>Magneto</vt:lpstr>
      <vt:lpstr>Tw Cen MT Condensed Extra Bold</vt:lpstr>
      <vt:lpstr>Office Theme</vt:lpstr>
      <vt:lpstr>PowerPoint Presentation</vt:lpstr>
      <vt:lpstr>Task 1 : Data Cleaning &amp; Preparation</vt:lpstr>
      <vt:lpstr>PowerPoint Presentation</vt:lpstr>
      <vt:lpstr>Task 2: Delivery Delay Analysis</vt:lpstr>
      <vt:lpstr>PowerPoint Presentation</vt:lpstr>
      <vt:lpstr>Task 3: Route Optimization Insights</vt:lpstr>
      <vt:lpstr>PowerPoint Presentation</vt:lpstr>
      <vt:lpstr>PowerPoint Presentation</vt:lpstr>
      <vt:lpstr>Task 4: Warehouse Performance</vt:lpstr>
      <vt:lpstr>PowerPoint Presentation</vt:lpstr>
      <vt:lpstr>Task 5: Delivery Agent Performance </vt:lpstr>
      <vt:lpstr>PowerPoint Presentation</vt:lpstr>
      <vt:lpstr>Task 6: Shipment Tracking Analytics</vt:lpstr>
      <vt:lpstr>PowerPoint Presentation</vt:lpstr>
      <vt:lpstr>Task 7: Advanced KPI Reporting</vt:lpstr>
      <vt:lpstr>PowerPoint Presentation</vt:lpstr>
      <vt:lpstr>Key Insights and Recommendations :  for DHL logistics optimisation.</vt:lpstr>
      <vt:lpstr>Task 9 : Video Submission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Alpana Prajapati</dc:creator>
  <cp:lastModifiedBy>Alpana Prajapati</cp:lastModifiedBy>
  <cp:revision>11</cp:revision>
  <dcterms:created xsi:type="dcterms:W3CDTF">2026-01-11T20:46:30Z</dcterms:created>
  <dcterms:modified xsi:type="dcterms:W3CDTF">2026-01-13T12:15:45Z</dcterms:modified>
</cp:coreProperties>
</file>